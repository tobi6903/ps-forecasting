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839787" y="365125"/>
            <a:ext cx="10515601" cy="1325563"/>
          </a:xfrm>
          <a:prstGeom prst="rect">
            <a:avLst/>
          </a:prstGeom>
        </p:spPr>
        <p:txBody>
          <a:bodyPr/>
          <a:lstStyle/>
          <a:p>
            <a:pPr/>
            <a:r>
              <a:t>Title Text</a:t>
            </a:r>
          </a:p>
        </p:txBody>
      </p:sp>
      <p:sp>
        <p:nvSpPr>
          <p:cNvPr id="48"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839787" y="2057400"/>
            <a:ext cx="3932239"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84"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8.xml"/><Relationship Id="rId5" Type="http://schemas.openxmlformats.org/officeDocument/2006/relationships/slide" Target="slide7.xml"/><Relationship Id="rId6" Type="http://schemas.openxmlformats.org/officeDocument/2006/relationships/slide" Target="slide12.xml"/><Relationship Id="rId7" Type="http://schemas.openxmlformats.org/officeDocument/2006/relationships/slide" Target="slide15.xml"/><Relationship Id="rId8" Type="http://schemas.openxmlformats.org/officeDocument/2006/relationships/slide" Target="slide16.xml"/><Relationship Id="rId9" Type="http://schemas.openxmlformats.org/officeDocument/2006/relationships/slide" Target="slide1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3.jpeg"/><Relationship Id="rId4" Type="http://schemas.openxmlformats.org/officeDocument/2006/relationships/image" Target="../media/image4.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6.jpeg"/><Relationship Id="rId4" Type="http://schemas.openxmlformats.org/officeDocument/2006/relationships/image" Target="../media/image7.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8.jpeg"/><Relationship Id="rId4" Type="http://schemas.openxmlformats.org/officeDocument/2006/relationships/image" Target="../media/image9.jpeg"/></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extBox 12"/>
          <p:cNvSpPr txBox="1"/>
          <p:nvPr/>
        </p:nvSpPr>
        <p:spPr>
          <a:xfrm>
            <a:off x="1471657" y="2459373"/>
            <a:ext cx="8652218" cy="1234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500">
                <a:latin typeface="Aptos Mono"/>
                <a:ea typeface="Aptos Mono"/>
                <a:cs typeface="Aptos Mono"/>
                <a:sym typeface="Aptos Mono"/>
              </a:defRPr>
            </a:lvl1pPr>
          </a:lstStyle>
          <a:p>
            <a:pPr/>
            <a:r>
              <a:t> Time  Series Forecasting in Power systems using Deep learning techniques</a:t>
            </a:r>
          </a:p>
        </p:txBody>
      </p:sp>
      <p:sp>
        <p:nvSpPr>
          <p:cNvPr id="95" name="Subtitle 2"/>
          <p:cNvSpPr txBox="1"/>
          <p:nvPr/>
        </p:nvSpPr>
        <p:spPr>
          <a:xfrm>
            <a:off x="377542" y="4275051"/>
            <a:ext cx="6362485" cy="2349959"/>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795527">
              <a:lnSpc>
                <a:spcPct val="81000"/>
              </a:lnSpc>
              <a:spcBef>
                <a:spcPts val="800"/>
              </a:spcBef>
              <a:defRPr sz="2436">
                <a:solidFill>
                  <a:srgbClr val="FF0000"/>
                </a:solidFill>
              </a:defRPr>
            </a:pPr>
            <a:r>
              <a:t>Internship Supervisor:</a:t>
            </a:r>
            <a:endParaRPr sz="2088"/>
          </a:p>
          <a:p>
            <a:pPr defTabSz="795527">
              <a:lnSpc>
                <a:spcPct val="81000"/>
              </a:lnSpc>
              <a:spcBef>
                <a:spcPts val="800"/>
              </a:spcBef>
              <a:defRPr sz="1740">
                <a:latin typeface="Aptos Mono"/>
                <a:ea typeface="Aptos Mono"/>
                <a:cs typeface="Aptos Mono"/>
                <a:sym typeface="Aptos Mono"/>
              </a:defRPr>
            </a:pPr>
            <a:r>
              <a:t>Prof . Altaf Q H Badar</a:t>
            </a:r>
            <a:endParaRPr sz="2088"/>
          </a:p>
          <a:p>
            <a:pPr defTabSz="795527">
              <a:lnSpc>
                <a:spcPct val="81000"/>
              </a:lnSpc>
              <a:spcBef>
                <a:spcPts val="800"/>
              </a:spcBef>
              <a:defRPr sz="1740">
                <a:latin typeface="Aptos Mono"/>
                <a:ea typeface="Aptos Mono"/>
                <a:cs typeface="Aptos Mono"/>
                <a:sym typeface="Aptos Mono"/>
              </a:defRPr>
            </a:pPr>
            <a:r>
              <a:t>Assistant Professor</a:t>
            </a:r>
            <a:endParaRPr sz="2088"/>
          </a:p>
          <a:p>
            <a:pPr defTabSz="795527">
              <a:lnSpc>
                <a:spcPct val="81000"/>
              </a:lnSpc>
              <a:spcBef>
                <a:spcPts val="800"/>
              </a:spcBef>
              <a:defRPr sz="1740">
                <a:latin typeface="Aptos Mono"/>
                <a:ea typeface="Aptos Mono"/>
                <a:cs typeface="Aptos Mono"/>
                <a:sym typeface="Aptos Mono"/>
              </a:defRPr>
            </a:pPr>
            <a:r>
              <a:t>National Institute of Technology Warangal</a:t>
            </a:r>
            <a:endParaRPr sz="2088"/>
          </a:p>
          <a:p>
            <a:pPr defTabSz="795527">
              <a:lnSpc>
                <a:spcPct val="81000"/>
              </a:lnSpc>
              <a:spcBef>
                <a:spcPts val="800"/>
              </a:spcBef>
              <a:defRPr sz="1740">
                <a:solidFill>
                  <a:srgbClr val="5E5E5E"/>
                </a:solidFill>
                <a:latin typeface="Aptos Mono"/>
                <a:ea typeface="Aptos Mono"/>
                <a:cs typeface="Aptos Mono"/>
                <a:sym typeface="Aptos Mono"/>
              </a:defRPr>
            </a:pPr>
            <a:r>
              <a:t>altafbadar@nitw.ac.in</a:t>
            </a:r>
          </a:p>
          <a:p>
            <a:pPr defTabSz="795527">
              <a:lnSpc>
                <a:spcPct val="81000"/>
              </a:lnSpc>
              <a:spcBef>
                <a:spcPts val="800"/>
              </a:spcBef>
              <a:defRPr sz="1740">
                <a:solidFill>
                  <a:srgbClr val="222222"/>
                </a:solidFill>
                <a:latin typeface="Aptos Mono"/>
                <a:ea typeface="Aptos Mono"/>
                <a:cs typeface="Aptos Mono"/>
                <a:sym typeface="Aptos Mono"/>
              </a:defRPr>
            </a:pPr>
            <a:r>
              <a:t>+91-9890068893</a:t>
            </a:r>
          </a:p>
        </p:txBody>
      </p:sp>
      <p:sp>
        <p:nvSpPr>
          <p:cNvPr id="96" name="Subtitle 2"/>
          <p:cNvSpPr txBox="1"/>
          <p:nvPr/>
        </p:nvSpPr>
        <p:spPr>
          <a:xfrm>
            <a:off x="8552234" y="4127318"/>
            <a:ext cx="4805914" cy="2248682"/>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90000"/>
              </a:lnSpc>
              <a:spcBef>
                <a:spcPts val="1000"/>
              </a:spcBef>
              <a:defRPr sz="2900">
                <a:solidFill>
                  <a:srgbClr val="FF0000"/>
                </a:solidFill>
              </a:defRPr>
            </a:pPr>
            <a:r>
              <a:t>Presenter:</a:t>
            </a:r>
            <a:endParaRPr sz="2400"/>
          </a:p>
          <a:p>
            <a:pPr>
              <a:lnSpc>
                <a:spcPct val="90000"/>
              </a:lnSpc>
              <a:spcBef>
                <a:spcPts val="1000"/>
              </a:spcBef>
              <a:defRPr sz="2000">
                <a:latin typeface="Aptos Mono"/>
                <a:ea typeface="Aptos Mono"/>
                <a:cs typeface="Aptos Mono"/>
                <a:sym typeface="Aptos Mono"/>
              </a:defRPr>
            </a:pPr>
            <a:r>
              <a:t>Name: Magam Vasista Sai</a:t>
            </a:r>
            <a:endParaRPr sz="2400"/>
          </a:p>
          <a:p>
            <a:pPr>
              <a:lnSpc>
                <a:spcPct val="90000"/>
              </a:lnSpc>
              <a:spcBef>
                <a:spcPts val="1000"/>
              </a:spcBef>
              <a:defRPr sz="2000">
                <a:latin typeface="Aptos Mono"/>
                <a:ea typeface="Aptos Mono"/>
                <a:cs typeface="Aptos Mono"/>
                <a:sym typeface="Aptos Mono"/>
              </a:defRPr>
            </a:pPr>
            <a:r>
              <a:t>Roll No: 21EEB0A38</a:t>
            </a:r>
            <a:endParaRPr sz="2400"/>
          </a:p>
          <a:p>
            <a:pPr>
              <a:lnSpc>
                <a:spcPct val="90000"/>
              </a:lnSpc>
              <a:spcBef>
                <a:spcPts val="1000"/>
              </a:spcBef>
              <a:defRPr sz="2000">
                <a:latin typeface="Aptos Mono"/>
                <a:ea typeface="Aptos Mono"/>
                <a:cs typeface="Aptos Mono"/>
                <a:sym typeface="Aptos Mono"/>
              </a:defRPr>
            </a:pPr>
            <a:r>
              <a:t>Duration: 2 months</a:t>
            </a:r>
            <a:endParaRPr sz="2400"/>
          </a:p>
          <a:p>
            <a:pPr>
              <a:lnSpc>
                <a:spcPct val="90000"/>
              </a:lnSpc>
              <a:spcBef>
                <a:spcPts val="1000"/>
              </a:spcBef>
              <a:defRPr sz="2000">
                <a:latin typeface="Aptos Mono"/>
                <a:ea typeface="Aptos Mono"/>
                <a:cs typeface="Aptos Mono"/>
                <a:sym typeface="Aptos Mono"/>
              </a:defRPr>
            </a:pPr>
            <a:r>
              <a:t>From:20-05-24 to 10-07-24</a:t>
            </a:r>
          </a:p>
        </p:txBody>
      </p:sp>
      <p:sp>
        <p:nvSpPr>
          <p:cNvPr id="97" name="TextBox 7"/>
          <p:cNvSpPr txBox="1"/>
          <p:nvPr/>
        </p:nvSpPr>
        <p:spPr>
          <a:xfrm>
            <a:off x="2341253" y="790565"/>
            <a:ext cx="7509491" cy="4970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200">
                <a:solidFill>
                  <a:srgbClr val="7030A0"/>
                </a:solidFill>
              </a:defRPr>
            </a:lvl1pPr>
          </a:lstStyle>
          <a:p>
            <a:pPr/>
            <a:r>
              <a:t>DEPARTMENT OF ELECTRICAL ENGINEERING</a:t>
            </a:r>
          </a:p>
        </p:txBody>
      </p:sp>
      <p:sp>
        <p:nvSpPr>
          <p:cNvPr id="98" name="Title 4"/>
          <p:cNvSpPr txBox="1"/>
          <p:nvPr>
            <p:ph type="title"/>
          </p:nvPr>
        </p:nvSpPr>
        <p:spPr>
          <a:xfrm>
            <a:off x="1672389" y="213782"/>
            <a:ext cx="9921825" cy="613445"/>
          </a:xfrm>
          <a:prstGeom prst="rect">
            <a:avLst/>
          </a:prstGeom>
        </p:spPr>
        <p:txBody>
          <a:bodyPr/>
          <a:lstStyle>
            <a:lvl1pPr>
              <a:defRPr b="1" sz="3200">
                <a:latin typeface="Trebuchet MS"/>
                <a:ea typeface="Trebuchet MS"/>
                <a:cs typeface="Trebuchet MS"/>
                <a:sym typeface="Trebuchet MS"/>
              </a:defRPr>
            </a:lvl1pPr>
          </a:lstStyle>
          <a:p>
            <a:pPr/>
            <a:r>
              <a:t>NATIONAL INSTITUTE OF TECHNOLOGY, WARANGAL</a:t>
            </a:r>
          </a:p>
        </p:txBody>
      </p:sp>
      <p:pic>
        <p:nvPicPr>
          <p:cNvPr id="99" name="Picture 6" descr="Picture 6"/>
          <p:cNvPicPr>
            <a:picLocks noChangeAspect="1"/>
          </p:cNvPicPr>
          <p:nvPr/>
        </p:nvPicPr>
        <p:blipFill>
          <a:blip r:embed="rId2">
            <a:extLst/>
          </a:blip>
          <a:stretch>
            <a:fillRect/>
          </a:stretch>
        </p:blipFill>
        <p:spPr>
          <a:xfrm>
            <a:off x="597785" y="230376"/>
            <a:ext cx="922423" cy="983618"/>
          </a:xfrm>
          <a:prstGeom prst="rect">
            <a:avLst/>
          </a:prstGeom>
          <a:ln w="12700">
            <a:miter lim="400000"/>
          </a:ln>
        </p:spPr>
      </p:pic>
      <p:sp>
        <p:nvSpPr>
          <p:cNvPr id="100" name="TextBox 8"/>
          <p:cNvSpPr txBox="1"/>
          <p:nvPr/>
        </p:nvSpPr>
        <p:spPr>
          <a:xfrm>
            <a:off x="2740793" y="1354916"/>
            <a:ext cx="6710412"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800">
                <a:solidFill>
                  <a:srgbClr val="C00000"/>
                </a:solidFill>
                <a:latin typeface="Aptos Mono"/>
                <a:ea typeface="Aptos Mono"/>
                <a:cs typeface="Aptos Mono"/>
                <a:sym typeface="Aptos Mono"/>
              </a:defRPr>
            </a:lvl1pPr>
          </a:lstStyle>
          <a:p>
            <a:pPr/>
            <a:r>
              <a:t>EE449 – SUMMER INTERNSHIP/EPICS</a:t>
            </a:r>
          </a:p>
        </p:txBody>
      </p:sp>
      <p:sp>
        <p:nvSpPr>
          <p:cNvPr id="101" name="TextBox 9"/>
          <p:cNvSpPr txBox="1"/>
          <p:nvPr/>
        </p:nvSpPr>
        <p:spPr>
          <a:xfrm>
            <a:off x="1769891" y="3567692"/>
            <a:ext cx="8652218" cy="82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latin typeface="Aptos Mono"/>
                <a:ea typeface="Aptos Mono"/>
                <a:cs typeface="Aptos Mono"/>
                <a:sym typeface="Aptos Mono"/>
              </a:defRPr>
            </a:lvl1pPr>
          </a:lstStyle>
          <a:p>
            <a:pPr/>
            <a:r>
              <a:t>National Institute of Technology Warangal </a:t>
            </a:r>
          </a:p>
        </p:txBody>
      </p:sp>
      <p:sp>
        <p:nvSpPr>
          <p:cNvPr id="102" name="Slide Number Placeholder 13"/>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03" name="TextBox 14"/>
          <p:cNvSpPr txBox="1"/>
          <p:nvPr/>
        </p:nvSpPr>
        <p:spPr>
          <a:xfrm>
            <a:off x="1613603" y="1820204"/>
            <a:ext cx="8964791"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solidFill>
                  <a:srgbClr val="385724"/>
                </a:solidFill>
                <a:latin typeface="Aptos Mono"/>
                <a:ea typeface="Aptos Mono"/>
                <a:cs typeface="Aptos Mono"/>
                <a:sym typeface="Aptos Mono"/>
              </a:defRPr>
            </a:lvl1pPr>
          </a:lstStyle>
          <a:p>
            <a:pPr/>
            <a:r>
              <a:t>IV-B.Tech. EEE(A) - INTERNSHIP PRESENTATION</a:t>
            </a:r>
          </a:p>
        </p:txBody>
      </p:sp>
      <p:sp>
        <p:nvSpPr>
          <p:cNvPr id="104"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05"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Title 4"/>
          <p:cNvSpPr txBox="1"/>
          <p:nvPr>
            <p:ph type="title"/>
          </p:nvPr>
        </p:nvSpPr>
        <p:spPr>
          <a:xfrm>
            <a:off x="2474493" y="368743"/>
            <a:ext cx="7243013" cy="613445"/>
          </a:xfrm>
          <a:prstGeom prst="rect">
            <a:avLst/>
          </a:prstGeom>
        </p:spPr>
        <p:txBody>
          <a:bodyPr/>
          <a:lstStyle>
            <a:lvl1pPr>
              <a:defRPr b="1" sz="3200">
                <a:latin typeface="Trebuchet MS"/>
                <a:ea typeface="Trebuchet MS"/>
                <a:cs typeface="Trebuchet MS"/>
                <a:sym typeface="Trebuchet MS"/>
              </a:defRPr>
            </a:lvl1pPr>
          </a:lstStyle>
          <a:p>
            <a:pPr/>
            <a:r>
              <a:t>CONTENTS OF THE PRESENTATION</a:t>
            </a:r>
          </a:p>
        </p:txBody>
      </p:sp>
      <p:sp>
        <p:nvSpPr>
          <p:cNvPr id="108" name="Slide Number Placeholder 14"/>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9"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110" name="Content Placeholder 2"/>
          <p:cNvSpPr txBox="1"/>
          <p:nvPr/>
        </p:nvSpPr>
        <p:spPr>
          <a:xfrm>
            <a:off x="2714701" y="1358887"/>
            <a:ext cx="7444842" cy="51509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628650" indent="-628650">
              <a:lnSpc>
                <a:spcPct val="90000"/>
              </a:lnSpc>
              <a:spcBef>
                <a:spcPts val="1000"/>
              </a:spcBef>
              <a:buSzPct val="100000"/>
              <a:buChar char="➢"/>
              <a:defRPr sz="3200"/>
            </a:pPr>
            <a:r>
              <a:rPr u="sng">
                <a:solidFill>
                  <a:srgbClr val="0563C1"/>
                </a:solidFill>
                <a:uFill>
                  <a:solidFill>
                    <a:srgbClr val="0563C1"/>
                  </a:solidFill>
                </a:uFill>
                <a:hlinkClick r:id="rId3" invalidUrl="" action="ppaction://hlinksldjump" tgtFrame="" tooltip="" history="1" highlightClick="0" endSnd="0"/>
              </a:rPr>
              <a:t>Introduction</a:t>
            </a:r>
            <a:r>
              <a:t> </a:t>
            </a:r>
            <a:endParaRPr sz="2800"/>
          </a:p>
          <a:p>
            <a:pPr marL="628650" indent="-628650">
              <a:lnSpc>
                <a:spcPct val="90000"/>
              </a:lnSpc>
              <a:spcBef>
                <a:spcPts val="1000"/>
              </a:spcBef>
              <a:buSzPct val="100000"/>
              <a:buChar char="➢"/>
              <a:defRPr sz="3200"/>
            </a:pPr>
            <a:r>
              <a:rPr u="sng">
                <a:solidFill>
                  <a:srgbClr val="0563C1"/>
                </a:solidFill>
                <a:uFill>
                  <a:solidFill>
                    <a:srgbClr val="0563C1"/>
                  </a:solidFill>
                </a:uFill>
                <a:hlinkClick r:id="rId4" invalidUrl="" action="ppaction://hlinksldjump" tgtFrame="" tooltip="" history="1" highlightClick="0" endSnd="0"/>
              </a:rPr>
              <a:t>Literature</a:t>
            </a:r>
          </a:p>
          <a:p>
            <a:pPr marL="628650" indent="-628650">
              <a:lnSpc>
                <a:spcPct val="90000"/>
              </a:lnSpc>
              <a:spcBef>
                <a:spcPts val="1000"/>
              </a:spcBef>
              <a:buSzPct val="100000"/>
              <a:buChar char="➢"/>
              <a:defRPr sz="3200"/>
            </a:pPr>
            <a:r>
              <a:rPr u="sng">
                <a:solidFill>
                  <a:srgbClr val="0563C1"/>
                </a:solidFill>
                <a:uFill>
                  <a:solidFill>
                    <a:srgbClr val="0563C1"/>
                  </a:solidFill>
                </a:uFill>
                <a:hlinkClick r:id="rId5" invalidUrl="" action="ppaction://hlinksldjump" tgtFrame="" tooltip="" history="1" highlightClick="0" endSnd="0"/>
              </a:rPr>
              <a:t>Problem Statement</a:t>
            </a:r>
          </a:p>
          <a:p>
            <a:pPr marL="628650" indent="-628650">
              <a:lnSpc>
                <a:spcPct val="90000"/>
              </a:lnSpc>
              <a:spcBef>
                <a:spcPts val="1000"/>
              </a:spcBef>
              <a:buSzPct val="100000"/>
              <a:buChar char="➢"/>
              <a:defRPr sz="3200"/>
            </a:pPr>
            <a:r>
              <a:rPr u="sng">
                <a:solidFill>
                  <a:srgbClr val="0563C1"/>
                </a:solidFill>
                <a:uFill>
                  <a:solidFill>
                    <a:srgbClr val="0563C1"/>
                  </a:solidFill>
                </a:uFill>
                <a:hlinkClick r:id="rId4" invalidUrl="" action="ppaction://hlinksldjump" tgtFrame="" tooltip="" history="1" highlightClick="0" endSnd="0"/>
              </a:rPr>
              <a:t>Simulation/Hardware Experimentation</a:t>
            </a:r>
          </a:p>
          <a:p>
            <a:pPr marL="628650" indent="-628650">
              <a:lnSpc>
                <a:spcPct val="90000"/>
              </a:lnSpc>
              <a:spcBef>
                <a:spcPts val="1000"/>
              </a:spcBef>
              <a:buSzPct val="100000"/>
              <a:buChar char="➢"/>
              <a:defRPr sz="3200"/>
            </a:pPr>
            <a:r>
              <a:rPr u="sng">
                <a:solidFill>
                  <a:srgbClr val="0563C1"/>
                </a:solidFill>
                <a:uFill>
                  <a:solidFill>
                    <a:srgbClr val="0563C1"/>
                  </a:solidFill>
                </a:uFill>
                <a:hlinkClick r:id="rId6" invalidUrl="" action="ppaction://hlinksldjump" tgtFrame="" tooltip="" history="1" highlightClick="0" endSnd="0"/>
              </a:rPr>
              <a:t>Results</a:t>
            </a:r>
          </a:p>
          <a:p>
            <a:pPr marL="628650" indent="-628650">
              <a:lnSpc>
                <a:spcPct val="90000"/>
              </a:lnSpc>
              <a:spcBef>
                <a:spcPts val="1000"/>
              </a:spcBef>
              <a:buSzPct val="100000"/>
              <a:buChar char="➢"/>
              <a:defRPr sz="3200"/>
            </a:pPr>
            <a:r>
              <a:rPr u="sng">
                <a:solidFill>
                  <a:srgbClr val="0563C1"/>
                </a:solidFill>
                <a:uFill>
                  <a:solidFill>
                    <a:srgbClr val="0563C1"/>
                  </a:solidFill>
                </a:uFill>
                <a:hlinkClick r:id="rId7" invalidUrl="" action="ppaction://hlinksldjump" tgtFrame="" tooltip="" history="1" highlightClick="0" endSnd="0"/>
              </a:rPr>
              <a:t>Conclusion</a:t>
            </a:r>
          </a:p>
          <a:p>
            <a:pPr marL="628650" indent="-628650">
              <a:lnSpc>
                <a:spcPct val="90000"/>
              </a:lnSpc>
              <a:spcBef>
                <a:spcPts val="1000"/>
              </a:spcBef>
              <a:buSzPct val="100000"/>
              <a:buChar char="➢"/>
              <a:defRPr sz="3200"/>
            </a:pPr>
            <a:r>
              <a:rPr u="sng">
                <a:solidFill>
                  <a:srgbClr val="0563C1"/>
                </a:solidFill>
                <a:uFill>
                  <a:solidFill>
                    <a:srgbClr val="0563C1"/>
                  </a:solidFill>
                </a:uFill>
                <a:hlinkClick r:id="rId8" invalidUrl="" action="ppaction://hlinksldjump" tgtFrame="" tooltip="" history="1" highlightClick="0" endSnd="0"/>
              </a:rPr>
              <a:t>Future Scope</a:t>
            </a:r>
          </a:p>
          <a:p>
            <a:pPr marL="628650" indent="-628650">
              <a:lnSpc>
                <a:spcPct val="90000"/>
              </a:lnSpc>
              <a:spcBef>
                <a:spcPts val="1000"/>
              </a:spcBef>
              <a:buSzPct val="100000"/>
              <a:buChar char="➢"/>
              <a:defRPr sz="3200"/>
            </a:pPr>
            <a:r>
              <a:rPr u="sng">
                <a:solidFill>
                  <a:srgbClr val="0563C1"/>
                </a:solidFill>
                <a:uFill>
                  <a:solidFill>
                    <a:srgbClr val="0563C1"/>
                  </a:solidFill>
                </a:uFill>
                <a:hlinkClick r:id="rId9" invalidUrl="" action="ppaction://hlinksldjump" tgtFrame="" tooltip="" history="1" highlightClick="0" endSnd="0"/>
              </a:rPr>
              <a:t>References</a:t>
            </a:r>
          </a:p>
        </p:txBody>
      </p:sp>
      <p:sp>
        <p:nvSpPr>
          <p:cNvPr id="111"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12"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itle 4"/>
          <p:cNvSpPr txBox="1"/>
          <p:nvPr>
            <p:ph type="title"/>
          </p:nvPr>
        </p:nvSpPr>
        <p:spPr>
          <a:xfrm>
            <a:off x="2474493" y="143926"/>
            <a:ext cx="7243013" cy="613444"/>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1. INTRODUCTION</a:t>
            </a:r>
          </a:p>
        </p:txBody>
      </p:sp>
      <p:sp>
        <p:nvSpPr>
          <p:cNvPr id="115" name="Slide Number Placeholder 14"/>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16"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117" name="TextBox 5"/>
          <p:cNvSpPr txBox="1"/>
          <p:nvPr/>
        </p:nvSpPr>
        <p:spPr>
          <a:xfrm>
            <a:off x="1154989" y="1277709"/>
            <a:ext cx="9882022" cy="430258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lgn="just">
              <a:buSzPct val="100000"/>
              <a:buChar char="➢"/>
              <a:defRPr sz="2000"/>
            </a:pPr>
            <a:r>
              <a:t>Integration of Renewable Energy Sources (RESs) and Electric Vehicles (EVs) is growing in modern power systems.</a:t>
            </a:r>
          </a:p>
          <a:p>
            <a:pPr marL="342900" indent="-342900" algn="just">
              <a:buSzPct val="100000"/>
              <a:buChar char="➢"/>
              <a:defRPr sz="2000"/>
            </a:pPr>
            <a:r>
              <a:rPr b="1"/>
              <a:t>Significance of RESs</a:t>
            </a:r>
            <a:r>
              <a:t>: Solar, wind, and hydro power are becoming key components of modern grids. </a:t>
            </a:r>
          </a:p>
          <a:p>
            <a:pPr marL="342900" indent="-342900" algn="just">
              <a:buSzPct val="100000"/>
              <a:buChar char="➢"/>
              <a:defRPr sz="2000"/>
            </a:pPr>
            <a:r>
              <a:rPr b="1"/>
              <a:t>EVs as Mobile Energy Sources</a:t>
            </a:r>
            <a:r>
              <a:t>: Electric vehicles serve both as consumers and potential suppliers of energy through vehicle-to-grid (V2G) technology.</a:t>
            </a:r>
          </a:p>
          <a:p>
            <a:pPr marL="342900" indent="-342900" algn="just">
              <a:buSzPct val="100000"/>
              <a:buChar char="➢"/>
              <a:defRPr sz="2000"/>
            </a:pPr>
            <a:r>
              <a:t>Key Benefits : Reduced carbon footprint ,Increased system efficiency, Minimised transmission losses.</a:t>
            </a:r>
          </a:p>
          <a:p>
            <a:pPr marL="342900" indent="-342900" algn="just">
              <a:buSzPct val="100000"/>
              <a:buChar char="➢"/>
              <a:defRPr sz="2000"/>
            </a:pPr>
            <a:r>
              <a:t>Challenges : </a:t>
            </a:r>
            <a:r>
              <a:rPr b="1"/>
              <a:t>Intermittent energy production</a:t>
            </a:r>
            <a:r>
              <a:t> from RESs: Unpredictability in generation, especially wind and solar and I</a:t>
            </a:r>
            <a:r>
              <a:rPr b="1"/>
              <a:t>ntegration of DERs</a:t>
            </a:r>
            <a:r>
              <a:t>: Thousands of small-scale, distributed generation units add complexity to grid operations.</a:t>
            </a:r>
          </a:p>
          <a:p>
            <a:pPr marL="342900" indent="-342900" algn="just">
              <a:buSzPct val="100000"/>
              <a:buChar char="➢"/>
              <a:defRPr sz="2000"/>
            </a:pPr>
            <a:r>
              <a:t>Forecasting</a:t>
            </a:r>
            <a:r>
              <a:rPr b="1"/>
              <a:t> </a:t>
            </a:r>
            <a:r>
              <a:t>: Accurate predictions of energy generation and consumption patterns are crucial to maintaining grid stability.</a:t>
            </a:r>
          </a:p>
        </p:txBody>
      </p:sp>
      <p:sp>
        <p:nvSpPr>
          <p:cNvPr id="118"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19"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itle 4"/>
          <p:cNvSpPr txBox="1"/>
          <p:nvPr>
            <p:ph type="title"/>
          </p:nvPr>
        </p:nvSpPr>
        <p:spPr>
          <a:xfrm>
            <a:off x="2474493" y="368743"/>
            <a:ext cx="7243013" cy="61344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1. INTRODUCTION</a:t>
            </a:r>
          </a:p>
        </p:txBody>
      </p:sp>
      <p:sp>
        <p:nvSpPr>
          <p:cNvPr id="122" name="Slide Number Placeholder 14"/>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23"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124" name="TextBox 6"/>
          <p:cNvSpPr txBox="1"/>
          <p:nvPr/>
        </p:nvSpPr>
        <p:spPr>
          <a:xfrm>
            <a:off x="779088" y="1666981"/>
            <a:ext cx="10112291" cy="471178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lvl="2" indent="457200">
              <a:defRPr sz="1900"/>
            </a:pPr>
            <a:r>
              <a:t>Forecasting Needs:</a:t>
            </a:r>
          </a:p>
          <a:p>
            <a:pPr marL="457200" indent="-317500">
              <a:buSzPct val="100000"/>
              <a:buFont typeface="Times Roman"/>
              <a:buChar char="•"/>
              <a:defRPr sz="1900"/>
            </a:pPr>
            <a:r>
              <a:t>Wind speed prediction for wind energy generation.</a:t>
            </a:r>
          </a:p>
          <a:p>
            <a:pPr marL="457200" indent="-317500">
              <a:buSzPct val="100000"/>
              <a:buFont typeface="Times Roman"/>
              <a:buChar char="•"/>
              <a:defRPr sz="1900"/>
            </a:pPr>
            <a:r>
              <a:t>Load demand forecasting to ensure supply meets demand.</a:t>
            </a:r>
          </a:p>
          <a:p>
            <a:pPr marL="457200" indent="-317500">
              <a:buSzPct val="100000"/>
              <a:buFont typeface="Times Roman"/>
              <a:buChar char="•"/>
              <a:defRPr sz="1900"/>
            </a:pPr>
            <a:r>
              <a:t>Electricity prices prediction for market operations.</a:t>
            </a:r>
          </a:p>
          <a:p>
            <a:pPr marL="457200" indent="-317500">
              <a:buSzPct val="100000"/>
              <a:buFont typeface="Times Roman"/>
              <a:buChar char="•"/>
              <a:defRPr sz="1900"/>
            </a:pPr>
            <a:r>
              <a:t>EV behaviour forecasting for load management and grid interaction.</a:t>
            </a:r>
          </a:p>
          <a:p>
            <a:pPr>
              <a:defRPr sz="1900"/>
            </a:pPr>
          </a:p>
          <a:p>
            <a:pPr lvl="2" indent="457200">
              <a:defRPr sz="1900"/>
            </a:pPr>
            <a:r>
              <a:t>Why BLSTM Networks?</a:t>
            </a:r>
          </a:p>
          <a:p>
            <a:pPr marL="475876" indent="-336176">
              <a:buSzPct val="100000"/>
              <a:buFont typeface="Times Roman"/>
              <a:buChar char="•"/>
              <a:defRPr sz="1900"/>
            </a:pPr>
            <a:r>
              <a:t>Bi-directional LSTM (BLSTM): Enhances traditional LSTM by considering both past and future data in time series.</a:t>
            </a:r>
          </a:p>
          <a:p>
            <a:pPr marL="475876" indent="-336176">
              <a:buSzPct val="100000"/>
              <a:buFont typeface="Times Roman"/>
              <a:buChar char="•"/>
              <a:defRPr sz="1900"/>
            </a:pPr>
            <a:r>
              <a:t>Superior performance:</a:t>
            </a:r>
          </a:p>
          <a:p>
            <a:pPr lvl="1" marL="933076" indent="-336176">
              <a:buSzPct val="100000"/>
              <a:buFont typeface="Times Roman"/>
              <a:buChar char="◦"/>
              <a:defRPr sz="1900"/>
            </a:pPr>
            <a:r>
              <a:t>Outperforms SVM, shallow neural networks, and traditional LSTMs.</a:t>
            </a:r>
          </a:p>
          <a:p>
            <a:pPr lvl="1" marL="933076" indent="-336176">
              <a:buSzPct val="100000"/>
              <a:buFont typeface="Times Roman"/>
              <a:buChar char="◦"/>
              <a:defRPr sz="1900"/>
            </a:pPr>
            <a:r>
              <a:t>Prediction accuracy: BLSTM achieves 1.47% error rate, lower than competing models.</a:t>
            </a:r>
          </a:p>
          <a:p>
            <a:pPr lvl="1" marL="933076" indent="-336176">
              <a:buSzPct val="100000"/>
              <a:buFont typeface="Times Roman"/>
              <a:buChar char="◦"/>
              <a:defRPr sz="1900"/>
            </a:pPr>
            <a:r>
              <a:t>Bidirectional structure : Provides more context, allowing for better forecasting accuracy.</a:t>
            </a:r>
          </a:p>
          <a:p>
            <a:pPr lvl="1" marL="933076" indent="-336176">
              <a:buSzPct val="100000"/>
              <a:buFont typeface="Times Roman"/>
              <a:buChar char="◦"/>
              <a:defRPr sz="1900"/>
            </a:pPr>
            <a:r>
              <a:t>Scalability : Effective for large-scale grid systems with numerous DERs.</a:t>
            </a:r>
          </a:p>
          <a:p>
            <a:pPr marL="285750" indent="-285750">
              <a:buSzPct val="100000"/>
              <a:buChar char="➢"/>
              <a:defRPr sz="1900"/>
            </a:pPr>
          </a:p>
        </p:txBody>
      </p:sp>
      <p:sp>
        <p:nvSpPr>
          <p:cNvPr id="125" name="Time Series Forecasting in Power Systems Using BLSTM Networks"/>
          <p:cNvSpPr txBox="1"/>
          <p:nvPr/>
        </p:nvSpPr>
        <p:spPr>
          <a:xfrm>
            <a:off x="957789" y="1023519"/>
            <a:ext cx="7243012"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b="1">
                <a:latin typeface="Times Roman"/>
                <a:ea typeface="Times Roman"/>
                <a:cs typeface="Times Roman"/>
                <a:sym typeface="Times Roman"/>
              </a:defRPr>
            </a:lvl1pPr>
          </a:lstStyle>
          <a:p>
            <a:pPr/>
            <a:r>
              <a:t>Time Series Forecasting in Power Systems Using BLSTM Networks</a:t>
            </a:r>
          </a:p>
        </p:txBody>
      </p:sp>
      <p:sp>
        <p:nvSpPr>
          <p:cNvPr id="126"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27"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itle 4"/>
          <p:cNvSpPr txBox="1"/>
          <p:nvPr>
            <p:ph type="title"/>
          </p:nvPr>
        </p:nvSpPr>
        <p:spPr>
          <a:xfrm>
            <a:off x="2474493" y="368743"/>
            <a:ext cx="7243013" cy="61344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2. LITERATURE SURVEY</a:t>
            </a:r>
          </a:p>
        </p:txBody>
      </p:sp>
      <p:sp>
        <p:nvSpPr>
          <p:cNvPr id="130" name="Slide Number Placeholder 14"/>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1"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132" name="TextBox 5"/>
          <p:cNvSpPr txBox="1"/>
          <p:nvPr/>
        </p:nvSpPr>
        <p:spPr>
          <a:xfrm>
            <a:off x="1079525" y="1310178"/>
            <a:ext cx="10032950" cy="49121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2000">
                <a:latin typeface="Times Roman"/>
                <a:ea typeface="Times Roman"/>
                <a:cs typeface="Times Roman"/>
                <a:sym typeface="Times Roman"/>
              </a:defRPr>
            </a:pPr>
            <a:r>
              <a:t>In this study, a comparison was conducted between various time series forecasting models, including Bi-directional Long Short-Term Memory (BLSTM), Long Short-Term Memory (LSTM), Gated Recurrent Units (GRU), and Bidirectional GRU (BGRU), to evaluate their performance in predicting key variables for power system management. The dataset used for this analysis consisted of Denmark city data collected over a 7-year period (2015-2021). The focus was on forecasting parameters such as wind speed, load demand, and electricity prices, which are critical in managing modern power systems integrated with renewable energy sources and electric vehicles.</a:t>
            </a:r>
          </a:p>
          <a:p>
            <a:pPr defTabSz="457200">
              <a:spcBef>
                <a:spcPts val="1200"/>
              </a:spcBef>
              <a:defRPr sz="2000">
                <a:latin typeface="Times Roman"/>
                <a:ea typeface="Times Roman"/>
                <a:cs typeface="Times Roman"/>
                <a:sym typeface="Times Roman"/>
              </a:defRPr>
            </a:pPr>
            <a:r>
              <a:t>The models were trained with a batch size of 32, a time step of 72, and a learning rate of 0.001. The BLSTM model demonstrated superior performance, achieving a Mean Absolute Error (MAE) of 0.00658 and a Root Mean Squared Error (RMSE) of 0.00841 in case Total Load(Similarly BLTSTM performed well in other features too). These results were compared against those of traditional LSTM and GRU models, as well as BGRU, which shares a similar architecture to BLSTM but differs in complexity.</a:t>
            </a:r>
          </a:p>
        </p:txBody>
      </p:sp>
      <p:sp>
        <p:nvSpPr>
          <p:cNvPr id="133"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34"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itle 4"/>
          <p:cNvSpPr txBox="1"/>
          <p:nvPr>
            <p:ph type="title"/>
          </p:nvPr>
        </p:nvSpPr>
        <p:spPr>
          <a:xfrm>
            <a:off x="2474493" y="368743"/>
            <a:ext cx="7243013" cy="61344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2. LITERATURE SURVEY</a:t>
            </a:r>
          </a:p>
        </p:txBody>
      </p:sp>
      <p:sp>
        <p:nvSpPr>
          <p:cNvPr id="137" name="Slide Number Placeholder 14"/>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8"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139" name="TextBox 5"/>
          <p:cNvSpPr txBox="1"/>
          <p:nvPr/>
        </p:nvSpPr>
        <p:spPr>
          <a:xfrm>
            <a:off x="1346617" y="1038861"/>
            <a:ext cx="9797279" cy="338818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000"/>
            </a:pPr>
            <a:r>
              <a:t>LSTM, while a well-established model for time series forecasting, showed higher error rates due to its inability to capture future dependencies in the data. GRU, being a simplified version of LSTM, was faster to train but exhibited slightly lower accuracy for the complex time series data used in this study.</a:t>
            </a:r>
          </a:p>
          <a:p>
            <a:pPr>
              <a:defRPr sz="2000"/>
            </a:pPr>
          </a:p>
          <a:p>
            <a:pPr>
              <a:defRPr sz="2000"/>
            </a:pPr>
          </a:p>
          <a:p>
            <a:pPr marL="342900" indent="-342900">
              <a:buSzPct val="100000"/>
              <a:buChar char="➢"/>
              <a:defRPr sz="2000"/>
            </a:pPr>
            <a:r>
              <a:t> BGRU performed similarly to BLSTM in terms of architecture but proved less effective in learning bidirectional dependencies, resulting in higher MSE and RMSE. Ultimately, BLSTM outperformed all other models, demonstrating its effectiveness in reducing prediction errors, which is critical for optimizing power system operations, particularly in the integration of renewable energy and electric vehicles.</a:t>
            </a:r>
          </a:p>
        </p:txBody>
      </p:sp>
      <p:sp>
        <p:nvSpPr>
          <p:cNvPr id="140"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41"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Title 4"/>
          <p:cNvSpPr txBox="1"/>
          <p:nvPr>
            <p:ph type="title"/>
          </p:nvPr>
        </p:nvSpPr>
        <p:spPr>
          <a:xfrm>
            <a:off x="2474493" y="136524"/>
            <a:ext cx="7243013" cy="61344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3. PROBLEM STATEMENT</a:t>
            </a:r>
          </a:p>
        </p:txBody>
      </p:sp>
      <p:sp>
        <p:nvSpPr>
          <p:cNvPr id="144" name="Slide Number Placeholder 14"/>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5"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146" name="TextBox 3"/>
          <p:cNvSpPr txBox="1"/>
          <p:nvPr/>
        </p:nvSpPr>
        <p:spPr>
          <a:xfrm>
            <a:off x="1694575" y="1042222"/>
            <a:ext cx="9757411" cy="458478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1900">
                <a:latin typeface="Times Roman"/>
                <a:ea typeface="Times Roman"/>
                <a:cs typeface="Times Roman"/>
                <a:sym typeface="Times Roman"/>
              </a:defRPr>
            </a:pPr>
            <a:r>
              <a:t>Accurate forecasting of time series data related to renewable energy generation and Solar energy, Wind speed and cost poses a significant challenge in modern power systems. While various forecasting models, such as Bi-directional Long Short-Term Memory (BLSTM) networks, have shown promise in predicting stochastic parameters, optimizing their ability to capture both temporal dynamics and seasonal patterns remains complex.</a:t>
            </a:r>
          </a:p>
          <a:p>
            <a:pPr defTabSz="457200">
              <a:spcBef>
                <a:spcPts val="1200"/>
              </a:spcBef>
              <a:defRPr sz="1900">
                <a:latin typeface="Times Roman"/>
                <a:ea typeface="Times Roman"/>
                <a:cs typeface="Times Roman"/>
                <a:sym typeface="Times Roman"/>
              </a:defRPr>
            </a:pPr>
          </a:p>
          <a:p>
            <a:pPr defTabSz="457200">
              <a:spcBef>
                <a:spcPts val="1200"/>
              </a:spcBef>
              <a:defRPr sz="1900">
                <a:latin typeface="Times Roman"/>
                <a:ea typeface="Times Roman"/>
                <a:cs typeface="Times Roman"/>
                <a:sym typeface="Times Roman"/>
              </a:defRPr>
            </a:pPr>
            <a:r>
              <a:t>Effective forecasting requires advanced techniques to model the inherent uncertainties associated with renewable energy sources and the unpredictable nature of electric vehicle charging and discharging behaviors. This study aims to enhance the performance of time series forecasting by leveraging hierarchical architectures that can extract robust features from historical data, thereby improving accuracy in predicting energy demand, generation, and pricing. By addressing these challenges, this research seeks to contribute to more efficient grid management and operational strategies in the integration of renewable energy sources and electric vehicles.</a:t>
            </a:r>
          </a:p>
        </p:txBody>
      </p:sp>
      <p:sp>
        <p:nvSpPr>
          <p:cNvPr id="147"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48"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itle 4"/>
          <p:cNvSpPr txBox="1"/>
          <p:nvPr>
            <p:ph type="title"/>
          </p:nvPr>
        </p:nvSpPr>
        <p:spPr>
          <a:xfrm>
            <a:off x="1657350" y="356245"/>
            <a:ext cx="8934450" cy="86295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4. SIMULATION/HARDWARE EXPERIMENTATION</a:t>
            </a:r>
          </a:p>
        </p:txBody>
      </p:sp>
      <p:sp>
        <p:nvSpPr>
          <p:cNvPr id="151" name="Slide Number Placeholder 14"/>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52"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pic>
        <p:nvPicPr>
          <p:cNvPr id="153" name="gru_image.png" descr="gru_image.png"/>
          <p:cNvPicPr>
            <a:picLocks noChangeAspect="1"/>
          </p:cNvPicPr>
          <p:nvPr/>
        </p:nvPicPr>
        <p:blipFill>
          <a:blip r:embed="rId3">
            <a:extLst/>
          </a:blip>
          <a:stretch>
            <a:fillRect/>
          </a:stretch>
        </p:blipFill>
        <p:spPr>
          <a:xfrm>
            <a:off x="364674" y="1619920"/>
            <a:ext cx="6089530" cy="3618160"/>
          </a:xfrm>
          <a:prstGeom prst="rect">
            <a:avLst/>
          </a:prstGeom>
          <a:ln w="12700">
            <a:miter lim="400000"/>
          </a:ln>
        </p:spPr>
      </p:pic>
      <p:pic>
        <p:nvPicPr>
          <p:cNvPr id="154" name="gru formulas.jpg" descr="gru formulas.jpg"/>
          <p:cNvPicPr>
            <a:picLocks noChangeAspect="1"/>
          </p:cNvPicPr>
          <p:nvPr/>
        </p:nvPicPr>
        <p:blipFill>
          <a:blip r:embed="rId4">
            <a:extLst/>
          </a:blip>
          <a:stretch>
            <a:fillRect/>
          </a:stretch>
        </p:blipFill>
        <p:spPr>
          <a:xfrm>
            <a:off x="6701430" y="1471768"/>
            <a:ext cx="5002408" cy="3914464"/>
          </a:xfrm>
          <a:prstGeom prst="rect">
            <a:avLst/>
          </a:prstGeom>
          <a:ln w="12700">
            <a:miter lim="400000"/>
          </a:ln>
        </p:spPr>
      </p:pic>
      <p:sp>
        <p:nvSpPr>
          <p:cNvPr id="155"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56"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Title 4"/>
          <p:cNvSpPr txBox="1"/>
          <p:nvPr>
            <p:ph type="title"/>
          </p:nvPr>
        </p:nvSpPr>
        <p:spPr>
          <a:xfrm>
            <a:off x="1657350" y="356245"/>
            <a:ext cx="8934450" cy="86295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4. SIMULATION/HARDWARE EXPERIMENTATION</a:t>
            </a:r>
          </a:p>
        </p:txBody>
      </p:sp>
      <p:sp>
        <p:nvSpPr>
          <p:cNvPr id="159" name="Slide Number Placeholder 14"/>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60"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pic>
        <p:nvPicPr>
          <p:cNvPr id="161" name="lstm-formulas.jpg" descr="lstm-formulas.jpg"/>
          <p:cNvPicPr>
            <a:picLocks noChangeAspect="1"/>
          </p:cNvPicPr>
          <p:nvPr/>
        </p:nvPicPr>
        <p:blipFill>
          <a:blip r:embed="rId3">
            <a:extLst/>
          </a:blip>
          <a:stretch>
            <a:fillRect/>
          </a:stretch>
        </p:blipFill>
        <p:spPr>
          <a:xfrm>
            <a:off x="631486" y="1590244"/>
            <a:ext cx="10986178" cy="4066412"/>
          </a:xfrm>
          <a:prstGeom prst="rect">
            <a:avLst/>
          </a:prstGeom>
          <a:ln w="12700">
            <a:miter lim="400000"/>
          </a:ln>
        </p:spPr>
      </p:pic>
      <p:sp>
        <p:nvSpPr>
          <p:cNvPr id="162"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63"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Slide Number Placeholder 14"/>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66"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pic>
        <p:nvPicPr>
          <p:cNvPr id="167" name="Untitled1w2.jpg" descr="Untitled1w2.jpg"/>
          <p:cNvPicPr>
            <a:picLocks noChangeAspect="1"/>
          </p:cNvPicPr>
          <p:nvPr/>
        </p:nvPicPr>
        <p:blipFill>
          <a:blip r:embed="rId3">
            <a:extLst/>
          </a:blip>
          <a:stretch>
            <a:fillRect/>
          </a:stretch>
        </p:blipFill>
        <p:spPr>
          <a:xfrm>
            <a:off x="6725267" y="1114254"/>
            <a:ext cx="7012630" cy="3755334"/>
          </a:xfrm>
          <a:prstGeom prst="rect">
            <a:avLst/>
          </a:prstGeom>
          <a:ln w="12700">
            <a:miter lim="400000"/>
          </a:ln>
        </p:spPr>
      </p:pic>
      <p:pic>
        <p:nvPicPr>
          <p:cNvPr id="168" name="Untitledwd.jpg" descr="Untitledwd.jpg"/>
          <p:cNvPicPr>
            <a:picLocks noChangeAspect="1"/>
          </p:cNvPicPr>
          <p:nvPr/>
        </p:nvPicPr>
        <p:blipFill>
          <a:blip r:embed="rId4">
            <a:extLst/>
          </a:blip>
          <a:stretch>
            <a:fillRect/>
          </a:stretch>
        </p:blipFill>
        <p:spPr>
          <a:xfrm>
            <a:off x="-175755" y="1102230"/>
            <a:ext cx="7057534" cy="3779382"/>
          </a:xfrm>
          <a:prstGeom prst="rect">
            <a:avLst/>
          </a:prstGeom>
          <a:ln w="12700">
            <a:miter lim="400000"/>
          </a:ln>
        </p:spPr>
      </p:pic>
      <p:sp>
        <p:nvSpPr>
          <p:cNvPr id="169"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70"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3"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pic>
        <p:nvPicPr>
          <p:cNvPr id="174" name="flowchart.jpg" descr="flowchart.jpg"/>
          <p:cNvPicPr>
            <a:picLocks noChangeAspect="1"/>
          </p:cNvPicPr>
          <p:nvPr/>
        </p:nvPicPr>
        <p:blipFill>
          <a:blip r:embed="rId3">
            <a:extLst/>
          </a:blip>
          <a:stretch>
            <a:fillRect/>
          </a:stretch>
        </p:blipFill>
        <p:spPr>
          <a:xfrm>
            <a:off x="2440280" y="427903"/>
            <a:ext cx="9161244" cy="6002194"/>
          </a:xfrm>
          <a:prstGeom prst="rect">
            <a:avLst/>
          </a:prstGeom>
          <a:ln w="12700">
            <a:miter lim="400000"/>
          </a:ln>
        </p:spPr>
      </p:pic>
      <p:sp>
        <p:nvSpPr>
          <p:cNvPr id="175" name="FlowChart/WorkFlow :"/>
          <p:cNvSpPr txBox="1"/>
          <p:nvPr/>
        </p:nvSpPr>
        <p:spPr>
          <a:xfrm>
            <a:off x="26322" y="1784152"/>
            <a:ext cx="2851136" cy="73817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300"/>
            </a:lvl1pPr>
          </a:lstStyle>
          <a:p>
            <a:pPr/>
            <a:r>
              <a:t>FlowChart/WorkFlow :</a:t>
            </a:r>
          </a:p>
        </p:txBody>
      </p:sp>
      <p:sp>
        <p:nvSpPr>
          <p:cNvPr id="176"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77"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Title 4"/>
          <p:cNvSpPr txBox="1"/>
          <p:nvPr>
            <p:ph type="title"/>
          </p:nvPr>
        </p:nvSpPr>
        <p:spPr>
          <a:xfrm>
            <a:off x="1657350" y="356245"/>
            <a:ext cx="8934450" cy="86295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5. RESULTS</a:t>
            </a:r>
          </a:p>
        </p:txBody>
      </p:sp>
      <p:sp>
        <p:nvSpPr>
          <p:cNvPr id="180" name="Slide Number Placeholder 14"/>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1"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182"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83"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pic>
        <p:nvPicPr>
          <p:cNvPr id="184" name="Price.jpg" descr="Price.jpg"/>
          <p:cNvPicPr>
            <a:picLocks noChangeAspect="1"/>
          </p:cNvPicPr>
          <p:nvPr/>
        </p:nvPicPr>
        <p:blipFill>
          <a:blip r:embed="rId3">
            <a:extLst/>
          </a:blip>
          <a:stretch>
            <a:fillRect/>
          </a:stretch>
        </p:blipFill>
        <p:spPr>
          <a:xfrm>
            <a:off x="130759" y="1066347"/>
            <a:ext cx="5943439" cy="3491474"/>
          </a:xfrm>
          <a:prstGeom prst="rect">
            <a:avLst/>
          </a:prstGeom>
          <a:ln w="12700">
            <a:miter lim="400000"/>
          </a:ln>
        </p:spPr>
      </p:pic>
      <p:pic>
        <p:nvPicPr>
          <p:cNvPr id="185" name="load_forecasting(all).jpg" descr="load_forecasting(all).jpg"/>
          <p:cNvPicPr>
            <a:picLocks noChangeAspect="1"/>
          </p:cNvPicPr>
          <p:nvPr/>
        </p:nvPicPr>
        <p:blipFill>
          <a:blip r:embed="rId4">
            <a:extLst/>
          </a:blip>
          <a:stretch>
            <a:fillRect/>
          </a:stretch>
        </p:blipFill>
        <p:spPr>
          <a:xfrm>
            <a:off x="6050998" y="1066347"/>
            <a:ext cx="5943441" cy="3491474"/>
          </a:xfrm>
          <a:prstGeom prst="rect">
            <a:avLst/>
          </a:prstGeom>
          <a:ln w="12700">
            <a:miter lim="400000"/>
          </a:ln>
        </p:spPr>
      </p:pic>
      <p:sp>
        <p:nvSpPr>
          <p:cNvPr id="186" name="Figure . Test results for Electricity Price"/>
          <p:cNvSpPr txBox="1"/>
          <p:nvPr/>
        </p:nvSpPr>
        <p:spPr>
          <a:xfrm>
            <a:off x="1639686" y="4787022"/>
            <a:ext cx="3672444"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Figure . Test results for Electricity Price</a:t>
            </a:r>
          </a:p>
        </p:txBody>
      </p:sp>
      <p:sp>
        <p:nvSpPr>
          <p:cNvPr id="187" name="Figure . Test results for Total load"/>
          <p:cNvSpPr txBox="1"/>
          <p:nvPr/>
        </p:nvSpPr>
        <p:spPr>
          <a:xfrm>
            <a:off x="7337617" y="4787022"/>
            <a:ext cx="3149387"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Figure . Test results for Total load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Title 4"/>
          <p:cNvSpPr txBox="1"/>
          <p:nvPr>
            <p:ph type="title"/>
          </p:nvPr>
        </p:nvSpPr>
        <p:spPr>
          <a:xfrm>
            <a:off x="1657350" y="356245"/>
            <a:ext cx="8934450" cy="86295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5. RESULTS</a:t>
            </a:r>
          </a:p>
        </p:txBody>
      </p:sp>
      <p:sp>
        <p:nvSpPr>
          <p:cNvPr id="190" name="Slide Number Placeholder 14"/>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1"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192"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193"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pic>
        <p:nvPicPr>
          <p:cNvPr id="194" name="WInd_forecasting.jpg" descr="WInd_forecasting.jpg"/>
          <p:cNvPicPr>
            <a:picLocks noChangeAspect="1"/>
          </p:cNvPicPr>
          <p:nvPr/>
        </p:nvPicPr>
        <p:blipFill>
          <a:blip r:embed="rId3">
            <a:extLst/>
          </a:blip>
          <a:stretch>
            <a:fillRect/>
          </a:stretch>
        </p:blipFill>
        <p:spPr>
          <a:xfrm>
            <a:off x="6375053" y="1146093"/>
            <a:ext cx="5917227" cy="3492263"/>
          </a:xfrm>
          <a:prstGeom prst="rect">
            <a:avLst/>
          </a:prstGeom>
          <a:ln w="12700">
            <a:miter lim="400000"/>
          </a:ln>
        </p:spPr>
      </p:pic>
      <p:sp>
        <p:nvSpPr>
          <p:cNvPr id="195" name="Figure . Test results for Wind Energy Generation"/>
          <p:cNvSpPr txBox="1"/>
          <p:nvPr/>
        </p:nvSpPr>
        <p:spPr>
          <a:xfrm>
            <a:off x="7071610" y="5198246"/>
            <a:ext cx="4524113"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Figure . Test results for Wind Energy Generation</a:t>
            </a:r>
          </a:p>
        </p:txBody>
      </p:sp>
      <p:pic>
        <p:nvPicPr>
          <p:cNvPr id="196" name="solar_gen.jpg" descr="solar_gen.jpg"/>
          <p:cNvPicPr>
            <a:picLocks noChangeAspect="1"/>
          </p:cNvPicPr>
          <p:nvPr/>
        </p:nvPicPr>
        <p:blipFill>
          <a:blip r:embed="rId4">
            <a:extLst/>
          </a:blip>
          <a:stretch>
            <a:fillRect/>
          </a:stretch>
        </p:blipFill>
        <p:spPr>
          <a:xfrm>
            <a:off x="309841" y="1298617"/>
            <a:ext cx="6043963" cy="3567061"/>
          </a:xfrm>
          <a:prstGeom prst="rect">
            <a:avLst/>
          </a:prstGeom>
          <a:ln w="12700">
            <a:miter lim="400000"/>
          </a:ln>
        </p:spPr>
      </p:pic>
      <p:sp>
        <p:nvSpPr>
          <p:cNvPr id="197" name="Figure . Test results for Solar Energy Generation"/>
          <p:cNvSpPr txBox="1"/>
          <p:nvPr/>
        </p:nvSpPr>
        <p:spPr>
          <a:xfrm>
            <a:off x="926111" y="4945095"/>
            <a:ext cx="4495315"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Figure . Test results for Solar Energy Generation</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Title 4"/>
          <p:cNvSpPr txBox="1"/>
          <p:nvPr>
            <p:ph type="title"/>
          </p:nvPr>
        </p:nvSpPr>
        <p:spPr>
          <a:xfrm>
            <a:off x="1657350" y="356245"/>
            <a:ext cx="8934450" cy="86295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5. RESULTS</a:t>
            </a:r>
          </a:p>
        </p:txBody>
      </p:sp>
      <p:sp>
        <p:nvSpPr>
          <p:cNvPr id="200" name="Slide Number Placeholder 14"/>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1"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202"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203"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graphicFrame>
        <p:nvGraphicFramePr>
          <p:cNvPr id="204" name="Table"/>
          <p:cNvGraphicFramePr/>
          <p:nvPr/>
        </p:nvGraphicFramePr>
        <p:xfrm>
          <a:off x="16737" y="1467259"/>
          <a:ext cx="12798062" cy="3852993"/>
        </p:xfrm>
        <a:graphic xmlns:a="http://schemas.openxmlformats.org/drawingml/2006/main">
          <a:graphicData uri="http://schemas.openxmlformats.org/drawingml/2006/table">
            <a:tbl>
              <a:tblPr firstCol="1" firstRow="1" lastCol="0" lastRow="0" bandCol="0" bandRow="1" rtl="0">
                <a:tableStyleId>{4C3C2611-4C71-4FC5-86AE-919BDF0F9419}</a:tableStyleId>
              </a:tblPr>
              <a:tblGrid>
                <a:gridCol w="1826480"/>
                <a:gridCol w="1826480"/>
                <a:gridCol w="1826480"/>
                <a:gridCol w="1826480"/>
                <a:gridCol w="1826480"/>
                <a:gridCol w="1826480"/>
                <a:gridCol w="1826480"/>
              </a:tblGrid>
              <a:tr h="768058">
                <a:tc>
                  <a:txBody>
                    <a:bodyPr/>
                    <a:lstStyle/>
                    <a:p>
                      <a:pPr algn="l">
                        <a:defRPr sz="1800"/>
                      </a:pPr>
                    </a:p>
                  </a:txBody>
                  <a:tcPr marL="0" marR="0" marT="0" marB="0" anchor="t" anchorCtr="0" horzOverflow="overflow"/>
                </a:tc>
                <a:tc>
                  <a:txBody>
                    <a:bodyPr/>
                    <a:lstStyle/>
                    <a:p>
                      <a:pPr algn="l">
                        <a:defRPr b="0" sz="1800">
                          <a:solidFill>
                            <a:srgbClr val="000000"/>
                          </a:solidFill>
                        </a:defRPr>
                      </a:pPr>
                      <a:r>
                        <a:rPr b="1">
                          <a:solidFill>
                            <a:srgbClr val="FFFFFF"/>
                          </a:solidFill>
                        </a:rPr>
                        <a:t>
BLSTM(MAE)</a:t>
                      </a:r>
                    </a:p>
                  </a:txBody>
                  <a:tcPr marL="0" marR="0" marT="0" marB="0" anchor="t" anchorCtr="0" horzOverflow="overflow"/>
                </a:tc>
                <a:tc>
                  <a:txBody>
                    <a:bodyPr/>
                    <a:lstStyle/>
                    <a:p>
                      <a:pPr algn="l">
                        <a:defRPr b="0" sz="1800">
                          <a:solidFill>
                            <a:srgbClr val="000000"/>
                          </a:solidFill>
                        </a:defRPr>
                      </a:pPr>
                      <a:r>
                        <a:rPr b="1">
                          <a:solidFill>
                            <a:srgbClr val="FFFFFF"/>
                          </a:solidFill>
                        </a:rPr>
                        <a:t>
BLSTM(RMSE)</a:t>
                      </a:r>
                    </a:p>
                  </a:txBody>
                  <a:tcPr marL="0" marR="0" marT="0" marB="0" anchor="t" anchorCtr="0" horzOverflow="overflow"/>
                </a:tc>
                <a:tc>
                  <a:txBody>
                    <a:bodyPr/>
                    <a:lstStyle/>
                    <a:p>
                      <a:pPr algn="l">
                        <a:defRPr b="0" sz="1800">
                          <a:solidFill>
                            <a:srgbClr val="000000"/>
                          </a:solidFill>
                        </a:defRPr>
                      </a:pPr>
                      <a:r>
                        <a:rPr b="1">
                          <a:solidFill>
                            <a:srgbClr val="FFFFFF"/>
                          </a:solidFill>
                        </a:rPr>
                        <a:t>
LSTM(MAE)
</a:t>
                      </a:r>
                    </a:p>
                  </a:txBody>
                  <a:tcPr marL="0" marR="0" marT="0" marB="0" anchor="t" anchorCtr="0" horzOverflow="overflow"/>
                </a:tc>
                <a:tc>
                  <a:txBody>
                    <a:bodyPr/>
                    <a:lstStyle/>
                    <a:p>
                      <a:pPr algn="l">
                        <a:defRPr b="0" sz="1800">
                          <a:solidFill>
                            <a:srgbClr val="000000"/>
                          </a:solidFill>
                        </a:defRPr>
                      </a:pPr>
                      <a:r>
                        <a:rPr b="1">
                          <a:solidFill>
                            <a:srgbClr val="FFFFFF"/>
                          </a:solidFill>
                        </a:rPr>
                        <a:t>
LSTM(RMSE)</a:t>
                      </a:r>
                    </a:p>
                  </a:txBody>
                  <a:tcPr marL="0" marR="0" marT="0" marB="0" anchor="t" anchorCtr="0" horzOverflow="overflow"/>
                </a:tc>
                <a:tc>
                  <a:txBody>
                    <a:bodyPr/>
                    <a:lstStyle/>
                    <a:p>
                      <a:pPr algn="l">
                        <a:defRPr b="0" sz="1800">
                          <a:solidFill>
                            <a:srgbClr val="000000"/>
                          </a:solidFill>
                        </a:defRPr>
                      </a:pPr>
                      <a:r>
                        <a:rPr b="1">
                          <a:solidFill>
                            <a:srgbClr val="FFFFFF"/>
                          </a:solidFill>
                        </a:rPr>
                        <a:t>
GRU(MAE)</a:t>
                      </a:r>
                    </a:p>
                  </a:txBody>
                  <a:tcPr marL="0" marR="0" marT="0" marB="0" anchor="t" anchorCtr="0" horzOverflow="overflow"/>
                </a:tc>
                <a:tc>
                  <a:txBody>
                    <a:bodyPr/>
                    <a:lstStyle/>
                    <a:p>
                      <a:pPr algn="l">
                        <a:defRPr b="0" sz="1800">
                          <a:solidFill>
                            <a:srgbClr val="000000"/>
                          </a:solidFill>
                        </a:defRPr>
                      </a:pPr>
                      <a:r>
                        <a:rPr b="1">
                          <a:solidFill>
                            <a:srgbClr val="FFFFFF"/>
                          </a:solidFill>
                        </a:rPr>
                        <a:t>
GRU(RMSE)</a:t>
                      </a:r>
                    </a:p>
                  </a:txBody>
                  <a:tcPr marL="0" marR="0" marT="0" marB="0" anchor="t" anchorCtr="0" horzOverflow="overflow"/>
                </a:tc>
              </a:tr>
              <a:tr h="768058">
                <a:tc>
                  <a:txBody>
                    <a:bodyPr/>
                    <a:lstStyle/>
                    <a:p>
                      <a:pPr algn="l">
                        <a:defRPr sz="1800"/>
                      </a:pPr>
                    </a:p>
                    <a:p>
                      <a:pPr algn="just">
                        <a:defRPr sz="1800"/>
                      </a:pPr>
                      <a:r>
                        <a:t> Electricity </a:t>
                      </a:r>
                    </a:p>
                    <a:p>
                      <a:pPr algn="just">
                        <a:defRPr sz="1800"/>
                      </a:pPr>
                      <a:r>
                        <a:t>  Price</a:t>
                      </a:r>
                    </a:p>
                  </a:txBody>
                  <a:tcPr marL="0" marR="0" marT="0" marB="0" anchor="t" anchorCtr="0" horzOverflow="overflow"/>
                </a:tc>
                <a:tc>
                  <a:txBody>
                    <a:bodyPr/>
                    <a:lstStyle/>
                    <a:p>
                      <a:pPr algn="l">
                        <a:defRPr sz="1800"/>
                      </a:pPr>
                      <a:r>
                        <a:t>0.01386</a:t>
                      </a:r>
                    </a:p>
                  </a:txBody>
                  <a:tcPr marL="0" marR="0" marT="0" marB="0" anchor="t" anchorCtr="0" horzOverflow="overflow"/>
                </a:tc>
                <a:tc>
                  <a:txBody>
                    <a:bodyPr/>
                    <a:lstStyle/>
                    <a:p>
                      <a:pPr algn="l">
                        <a:defRPr sz="1800"/>
                      </a:pPr>
                      <a:r>
                        <a:t>0.023135</a:t>
                      </a:r>
                    </a:p>
                  </a:txBody>
                  <a:tcPr marL="0" marR="0" marT="0" marB="0" anchor="t" anchorCtr="0" horzOverflow="overflow"/>
                </a:tc>
                <a:tc>
                  <a:txBody>
                    <a:bodyPr/>
                    <a:lstStyle/>
                    <a:p>
                      <a:pPr algn="l">
                        <a:defRPr sz="1800"/>
                      </a:pPr>
                      <a:r>
                        <a:t>0.01409</a:t>
                      </a:r>
                    </a:p>
                  </a:txBody>
                  <a:tcPr marL="0" marR="0" marT="0" marB="0" anchor="t" anchorCtr="0" horzOverflow="overflow"/>
                </a:tc>
                <a:tc>
                  <a:txBody>
                    <a:bodyPr/>
                    <a:lstStyle/>
                    <a:p>
                      <a:pPr algn="l">
                        <a:defRPr sz="1800"/>
                      </a:pPr>
                      <a:r>
                        <a:t>0.02349</a:t>
                      </a:r>
                    </a:p>
                  </a:txBody>
                  <a:tcPr marL="0" marR="0" marT="0" marB="0" anchor="t" anchorCtr="0" horzOverflow="overflow"/>
                </a:tc>
                <a:tc>
                  <a:txBody>
                    <a:bodyPr/>
                    <a:lstStyle/>
                    <a:p>
                      <a:pPr algn="l">
                        <a:defRPr sz="1800"/>
                      </a:pPr>
                      <a:r>
                        <a:t>0.01407</a:t>
                      </a:r>
                    </a:p>
                  </a:txBody>
                  <a:tcPr marL="0" marR="0" marT="0" marB="0" anchor="t" anchorCtr="0" horzOverflow="overflow"/>
                </a:tc>
                <a:tc>
                  <a:txBody>
                    <a:bodyPr/>
                    <a:lstStyle/>
                    <a:p>
                      <a:pPr algn="l">
                        <a:defRPr sz="1800"/>
                      </a:pPr>
                      <a:r>
                        <a:t>0.02373</a:t>
                      </a:r>
                    </a:p>
                  </a:txBody>
                  <a:tcPr marL="0" marR="0" marT="0" marB="0" anchor="t" anchorCtr="0" horzOverflow="overflow"/>
                </a:tc>
              </a:tr>
              <a:tr h="768058">
                <a:tc>
                  <a:txBody>
                    <a:bodyPr/>
                    <a:lstStyle/>
                    <a:p>
                      <a:pPr algn="l">
                        <a:defRPr b="0" sz="1800">
                          <a:solidFill>
                            <a:srgbClr val="000000"/>
                          </a:solidFill>
                        </a:defRPr>
                      </a:pPr>
                      <a:r>
                        <a:rPr b="1">
                          <a:solidFill>
                            <a:srgbClr val="FFFFFF"/>
                          </a:solidFill>
                        </a:rPr>
                        <a:t>
Total Load</a:t>
                      </a:r>
                    </a:p>
                  </a:txBody>
                  <a:tcPr marL="0" marR="0" marT="0" marB="0" anchor="t" anchorCtr="0" horzOverflow="overflow"/>
                </a:tc>
                <a:tc>
                  <a:txBody>
                    <a:bodyPr/>
                    <a:lstStyle/>
                    <a:p>
                      <a:pPr algn="l">
                        <a:defRPr sz="1800"/>
                      </a:pPr>
                      <a:r>
                        <a:t>0.00658</a:t>
                      </a:r>
                    </a:p>
                  </a:txBody>
                  <a:tcPr marL="0" marR="0" marT="0" marB="0" anchor="t" anchorCtr="0" horzOverflow="overflow"/>
                </a:tc>
                <a:tc>
                  <a:txBody>
                    <a:bodyPr/>
                    <a:lstStyle/>
                    <a:p>
                      <a:pPr algn="l">
                        <a:defRPr sz="1800"/>
                      </a:pPr>
                      <a:r>
                        <a:t>0.00841</a:t>
                      </a:r>
                    </a:p>
                  </a:txBody>
                  <a:tcPr marL="0" marR="0" marT="0" marB="0" anchor="t" anchorCtr="0" horzOverflow="overflow"/>
                </a:tc>
                <a:tc>
                  <a:txBody>
                    <a:bodyPr/>
                    <a:lstStyle/>
                    <a:p>
                      <a:pPr algn="l">
                        <a:defRPr sz="1800"/>
                      </a:pPr>
                      <a:r>
                        <a:t>0.00686</a:t>
                      </a:r>
                    </a:p>
                  </a:txBody>
                  <a:tcPr marL="0" marR="0" marT="0" marB="0" anchor="t" anchorCtr="0" horzOverflow="overflow"/>
                </a:tc>
                <a:tc>
                  <a:txBody>
                    <a:bodyPr/>
                    <a:lstStyle/>
                    <a:p>
                      <a:pPr algn="l">
                        <a:defRPr sz="1800"/>
                      </a:pPr>
                      <a:r>
                        <a:t>0.00860</a:t>
                      </a:r>
                    </a:p>
                  </a:txBody>
                  <a:tcPr marL="0" marR="0" marT="0" marB="0" anchor="t" anchorCtr="0" horzOverflow="overflow"/>
                </a:tc>
                <a:tc>
                  <a:txBody>
                    <a:bodyPr/>
                    <a:lstStyle/>
                    <a:p>
                      <a:pPr algn="l">
                        <a:defRPr sz="1800"/>
                      </a:pPr>
                      <a:r>
                        <a:t>0.00710</a:t>
                      </a:r>
                    </a:p>
                  </a:txBody>
                  <a:tcPr marL="0" marR="0" marT="0" marB="0" anchor="t" anchorCtr="0" horzOverflow="overflow"/>
                </a:tc>
                <a:tc>
                  <a:txBody>
                    <a:bodyPr/>
                    <a:lstStyle/>
                    <a:p>
                      <a:pPr algn="l">
                        <a:defRPr sz="1800"/>
                      </a:pPr>
                      <a:r>
                        <a:t>0.00947</a:t>
                      </a:r>
                    </a:p>
                  </a:txBody>
                  <a:tcPr marL="0" marR="0" marT="0" marB="0" anchor="t" anchorCtr="0" horzOverflow="overflow"/>
                </a:tc>
              </a:tr>
              <a:tr h="768058">
                <a:tc>
                  <a:txBody>
                    <a:bodyPr/>
                    <a:lstStyle/>
                    <a:p>
                      <a:pPr algn="l">
                        <a:defRPr b="0" sz="1800">
                          <a:solidFill>
                            <a:srgbClr val="000000"/>
                          </a:solidFill>
                        </a:defRPr>
                      </a:pPr>
                      <a:r>
                        <a:rPr b="1">
                          <a:solidFill>
                            <a:srgbClr val="FFFFFF"/>
                          </a:solidFill>
                        </a:rPr>
                        <a:t>Solar Energy Generation 
Intraday</a:t>
                      </a:r>
                    </a:p>
                  </a:txBody>
                  <a:tcPr marL="0" marR="0" marT="0" marB="0" anchor="t" anchorCtr="0" horzOverflow="overflow"/>
                </a:tc>
                <a:tc>
                  <a:txBody>
                    <a:bodyPr/>
                    <a:lstStyle/>
                    <a:p>
                      <a:pPr algn="l">
                        <a:defRPr sz="1800"/>
                      </a:pPr>
                      <a:r>
                        <a:t>0.15440</a:t>
                      </a:r>
                    </a:p>
                  </a:txBody>
                  <a:tcPr marL="0" marR="0" marT="0" marB="0" anchor="t" anchorCtr="0" horzOverflow="overflow"/>
                </a:tc>
                <a:tc>
                  <a:txBody>
                    <a:bodyPr/>
                    <a:lstStyle/>
                    <a:p>
                      <a:pPr algn="l">
                        <a:defRPr sz="1800"/>
                      </a:pPr>
                      <a:r>
                        <a:t>0.00234</a:t>
                      </a:r>
                    </a:p>
                  </a:txBody>
                  <a:tcPr marL="0" marR="0" marT="0" marB="0" anchor="t" anchorCtr="0" horzOverflow="overflow"/>
                </a:tc>
                <a:tc>
                  <a:txBody>
                    <a:bodyPr/>
                    <a:lstStyle/>
                    <a:p>
                      <a:pPr algn="l">
                        <a:defRPr sz="1800"/>
                      </a:pPr>
                      <a:r>
                        <a:t>0.00363</a:t>
                      </a:r>
                    </a:p>
                  </a:txBody>
                  <a:tcPr marL="0" marR="0" marT="0" marB="0" anchor="t" anchorCtr="0" horzOverflow="overflow"/>
                </a:tc>
                <a:tc>
                  <a:txBody>
                    <a:bodyPr/>
                    <a:lstStyle/>
                    <a:p>
                      <a:pPr algn="l">
                        <a:defRPr sz="1800"/>
                      </a:pPr>
                      <a:r>
                        <a:t>0.00565</a:t>
                      </a:r>
                    </a:p>
                  </a:txBody>
                  <a:tcPr marL="0" marR="0" marT="0" marB="0" anchor="t" anchorCtr="0" horzOverflow="overflow"/>
                </a:tc>
                <a:tc>
                  <a:txBody>
                    <a:bodyPr/>
                    <a:lstStyle/>
                    <a:p>
                      <a:pPr algn="l">
                        <a:defRPr sz="1800"/>
                      </a:pPr>
                      <a:r>
                        <a:t>0.00174</a:t>
                      </a:r>
                    </a:p>
                  </a:txBody>
                  <a:tcPr marL="0" marR="0" marT="0" marB="0" anchor="t" anchorCtr="0" horzOverflow="overflow"/>
                </a:tc>
                <a:tc>
                  <a:txBody>
                    <a:bodyPr/>
                    <a:lstStyle/>
                    <a:p>
                      <a:pPr algn="l">
                        <a:defRPr sz="1800"/>
                      </a:pPr>
                      <a:r>
                        <a:t>0.00233</a:t>
                      </a:r>
                    </a:p>
                  </a:txBody>
                  <a:tcPr marL="0" marR="0" marT="0" marB="0" anchor="t" anchorCtr="0" horzOverflow="overflow"/>
                </a:tc>
              </a:tr>
              <a:tr h="768058">
                <a:tc>
                  <a:txBody>
                    <a:bodyPr/>
                    <a:lstStyle/>
                    <a:p>
                      <a:pPr algn="l">
                        <a:defRPr b="0" sz="1800">
                          <a:solidFill>
                            <a:srgbClr val="000000"/>
                          </a:solidFill>
                        </a:defRPr>
                      </a:pPr>
                      <a:r>
                        <a:rPr b="1">
                          <a:solidFill>
                            <a:srgbClr val="FFFFFF"/>
                          </a:solidFill>
                        </a:rPr>
                        <a:t>Wind Energy
Generation Intraday</a:t>
                      </a:r>
                    </a:p>
                  </a:txBody>
                  <a:tcPr marL="0" marR="0" marT="0" marB="0" anchor="t" anchorCtr="0" horzOverflow="overflow"/>
                </a:tc>
                <a:tc>
                  <a:txBody>
                    <a:bodyPr/>
                    <a:lstStyle/>
                    <a:p>
                      <a:pPr algn="l">
                        <a:defRPr sz="1800"/>
                      </a:pPr>
                      <a:r>
                        <a:t>0.01459</a:t>
                      </a:r>
                    </a:p>
                  </a:txBody>
                  <a:tcPr marL="0" marR="0" marT="0" marB="0" anchor="t" anchorCtr="0" horzOverflow="overflow"/>
                </a:tc>
                <a:tc>
                  <a:txBody>
                    <a:bodyPr/>
                    <a:lstStyle/>
                    <a:p>
                      <a:pPr algn="l">
                        <a:defRPr sz="1800"/>
                      </a:pPr>
                      <a:r>
                        <a:t>0.01830</a:t>
                      </a:r>
                    </a:p>
                  </a:txBody>
                  <a:tcPr marL="0" marR="0" marT="0" marB="0" anchor="t" anchorCtr="0" horzOverflow="overflow"/>
                </a:tc>
                <a:tc>
                  <a:txBody>
                    <a:bodyPr/>
                    <a:lstStyle/>
                    <a:p>
                      <a:pPr algn="l">
                        <a:defRPr sz="1800"/>
                      </a:pPr>
                      <a:r>
                        <a:t>0.01506</a:t>
                      </a:r>
                    </a:p>
                  </a:txBody>
                  <a:tcPr marL="0" marR="0" marT="0" marB="0" anchor="t" anchorCtr="0" horzOverflow="overflow"/>
                </a:tc>
                <a:tc>
                  <a:txBody>
                    <a:bodyPr/>
                    <a:lstStyle/>
                    <a:p>
                      <a:pPr algn="l">
                        <a:defRPr sz="1800"/>
                      </a:pPr>
                      <a:r>
                        <a:t>0.01875</a:t>
                      </a:r>
                    </a:p>
                  </a:txBody>
                  <a:tcPr marL="0" marR="0" marT="0" marB="0" anchor="t" anchorCtr="0" horzOverflow="overflow"/>
                </a:tc>
                <a:tc>
                  <a:txBody>
                    <a:bodyPr/>
                    <a:lstStyle/>
                    <a:p>
                      <a:pPr algn="l">
                        <a:defRPr sz="1800"/>
                      </a:pPr>
                      <a:r>
                        <a:t>0.01653</a:t>
                      </a:r>
                    </a:p>
                  </a:txBody>
                  <a:tcPr marL="0" marR="0" marT="0" marB="0" anchor="t" anchorCtr="0" horzOverflow="overflow"/>
                </a:tc>
                <a:tc>
                  <a:txBody>
                    <a:bodyPr/>
                    <a:lstStyle/>
                    <a:p>
                      <a:pPr algn="l">
                        <a:defRPr sz="1800"/>
                      </a:pPr>
                      <a:r>
                        <a:t>0.01995</a:t>
                      </a:r>
                    </a:p>
                  </a:txBody>
                  <a:tcPr marL="0" marR="0" marT="0" marB="0" anchor="t" anchorCtr="0" horzOverflow="overflow"/>
                </a:tc>
              </a:tr>
            </a:tbl>
          </a:graphicData>
        </a:graphic>
      </p:graphicFrame>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Title 4"/>
          <p:cNvSpPr txBox="1"/>
          <p:nvPr>
            <p:ph type="title"/>
          </p:nvPr>
        </p:nvSpPr>
        <p:spPr>
          <a:xfrm>
            <a:off x="1391140" y="100538"/>
            <a:ext cx="8934451" cy="86295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6. CONCLUSION</a:t>
            </a:r>
          </a:p>
        </p:txBody>
      </p:sp>
      <p:sp>
        <p:nvSpPr>
          <p:cNvPr id="207" name="Slide Number Placeholder 14"/>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8"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209" name="TextBox 7"/>
          <p:cNvSpPr txBox="1"/>
          <p:nvPr/>
        </p:nvSpPr>
        <p:spPr>
          <a:xfrm>
            <a:off x="883919" y="822657"/>
            <a:ext cx="9948894" cy="565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500">
                <a:latin typeface="Times Roman"/>
                <a:ea typeface="Times Roman"/>
                <a:cs typeface="Times Roman"/>
                <a:sym typeface="Times Roman"/>
              </a:defRPr>
            </a:pPr>
            <a:r>
              <a:t>Significance of Time Series Forecasting</a:t>
            </a:r>
            <a:endParaRPr b="0"/>
          </a:p>
          <a:p>
            <a:pPr marL="457200" indent="-317500" defTabSz="457200">
              <a:buSzPct val="100000"/>
              <a:buFont typeface="Times Roman"/>
              <a:buChar char="•"/>
              <a:defRPr sz="1500">
                <a:latin typeface="Times Roman"/>
                <a:ea typeface="Times Roman"/>
                <a:cs typeface="Times Roman"/>
                <a:sym typeface="Times Roman"/>
              </a:defRPr>
            </a:pPr>
            <a:r>
              <a:t>Critical for efficient management of power systems and integration of renewable energy sources (RESs).</a:t>
            </a:r>
          </a:p>
          <a:p>
            <a:pPr marL="457200" indent="-317500" defTabSz="457200">
              <a:buSzPct val="100000"/>
              <a:buFont typeface="Times Roman"/>
              <a:buChar char="•"/>
              <a:defRPr sz="1500">
                <a:latin typeface="Times Roman"/>
                <a:ea typeface="Times Roman"/>
                <a:cs typeface="Times Roman"/>
                <a:sym typeface="Times Roman"/>
              </a:defRPr>
            </a:pPr>
            <a:r>
              <a:t>Enhances grid reliability and optimizes resource allocation.</a:t>
            </a:r>
          </a:p>
          <a:p>
            <a:pPr defTabSz="457200">
              <a:defRPr sz="1500">
                <a:latin typeface="Times Roman"/>
                <a:ea typeface="Times Roman"/>
                <a:cs typeface="Times Roman"/>
                <a:sym typeface="Times Roman"/>
              </a:defRPr>
            </a:pPr>
          </a:p>
          <a:p>
            <a:pPr defTabSz="457200">
              <a:spcBef>
                <a:spcPts val="1200"/>
              </a:spcBef>
              <a:defRPr b="1" sz="1500">
                <a:latin typeface="Times Roman"/>
                <a:ea typeface="Times Roman"/>
                <a:cs typeface="Times Roman"/>
                <a:sym typeface="Times Roman"/>
              </a:defRPr>
            </a:pPr>
            <a:r>
              <a:t>Effectiveness of Deep Learning Techniques</a:t>
            </a:r>
            <a:endParaRPr b="0"/>
          </a:p>
          <a:p>
            <a:pPr marL="457200" indent="-317500" defTabSz="457200">
              <a:buSzPct val="100000"/>
              <a:buFont typeface="Times Roman"/>
              <a:buChar char="•"/>
              <a:defRPr sz="1500">
                <a:latin typeface="Times Roman"/>
                <a:ea typeface="Times Roman"/>
                <a:cs typeface="Times Roman"/>
                <a:sym typeface="Times Roman"/>
              </a:defRPr>
            </a:pPr>
            <a:r>
              <a:t>Bi-directional Long Short-Term Memory (BLSTM) networks demonstrate superior performance in capturing temporal dependencies.</a:t>
            </a:r>
          </a:p>
          <a:p>
            <a:pPr marL="457200" indent="-317500" defTabSz="457200">
              <a:buSzPct val="100000"/>
              <a:buFont typeface="Times Roman"/>
              <a:buChar char="•"/>
              <a:defRPr sz="1500">
                <a:latin typeface="Times Roman"/>
                <a:ea typeface="Times Roman"/>
                <a:cs typeface="Times Roman"/>
                <a:sym typeface="Times Roman"/>
              </a:defRPr>
            </a:pPr>
            <a:r>
              <a:t>Achieved low prediction errors, validating their applicability in real-world scenarios.</a:t>
            </a:r>
          </a:p>
          <a:p>
            <a:pPr defTabSz="457200">
              <a:defRPr sz="1500">
                <a:latin typeface="Times Roman"/>
                <a:ea typeface="Times Roman"/>
                <a:cs typeface="Times Roman"/>
                <a:sym typeface="Times Roman"/>
              </a:defRPr>
            </a:pPr>
          </a:p>
          <a:p>
            <a:pPr defTabSz="457200">
              <a:spcBef>
                <a:spcPts val="1200"/>
              </a:spcBef>
              <a:defRPr b="1" sz="1500">
                <a:latin typeface="Times Roman"/>
                <a:ea typeface="Times Roman"/>
                <a:cs typeface="Times Roman"/>
                <a:sym typeface="Times Roman"/>
              </a:defRPr>
            </a:pPr>
            <a:r>
              <a:t>Challenges Addressed</a:t>
            </a:r>
            <a:endParaRPr b="0"/>
          </a:p>
          <a:p>
            <a:pPr marL="457200" indent="-317500" defTabSz="457200">
              <a:buSzPct val="100000"/>
              <a:buFont typeface="Times Roman"/>
              <a:buChar char="•"/>
              <a:defRPr sz="1500">
                <a:latin typeface="Times Roman"/>
                <a:ea typeface="Times Roman"/>
                <a:cs typeface="Times Roman"/>
                <a:sym typeface="Times Roman"/>
              </a:defRPr>
            </a:pPr>
            <a:r>
              <a:t>Mitigated complexities associated with the intermittent nature of RESs and Electric Vehicles (EVs).</a:t>
            </a:r>
          </a:p>
          <a:p>
            <a:pPr marL="457200" indent="-317500" defTabSz="457200">
              <a:buSzPct val="100000"/>
              <a:buFont typeface="Times Roman"/>
              <a:buChar char="•"/>
              <a:defRPr sz="1500">
                <a:latin typeface="Times Roman"/>
                <a:ea typeface="Times Roman"/>
                <a:cs typeface="Times Roman"/>
                <a:sym typeface="Times Roman"/>
              </a:defRPr>
            </a:pPr>
            <a:r>
              <a:t>Improved forecasting accuracy contributes to better decision-making in power system operations.</a:t>
            </a:r>
          </a:p>
          <a:p>
            <a:pPr defTabSz="457200">
              <a:defRPr sz="1500">
                <a:latin typeface="Times Roman"/>
                <a:ea typeface="Times Roman"/>
                <a:cs typeface="Times Roman"/>
                <a:sym typeface="Times Roman"/>
              </a:defRPr>
            </a:pPr>
          </a:p>
          <a:p>
            <a:pPr defTabSz="457200">
              <a:spcBef>
                <a:spcPts val="1200"/>
              </a:spcBef>
              <a:defRPr b="1" sz="1500">
                <a:latin typeface="Times Roman"/>
                <a:ea typeface="Times Roman"/>
                <a:cs typeface="Times Roman"/>
                <a:sym typeface="Times Roman"/>
              </a:defRPr>
            </a:pPr>
            <a:r>
              <a:t>Implications for Future Research</a:t>
            </a:r>
            <a:endParaRPr b="0"/>
          </a:p>
          <a:p>
            <a:pPr marL="457200" indent="-317500" defTabSz="457200">
              <a:buSzPct val="100000"/>
              <a:buFont typeface="Times Roman"/>
              <a:buChar char="•"/>
              <a:defRPr sz="1500">
                <a:latin typeface="Times Roman"/>
                <a:ea typeface="Times Roman"/>
                <a:cs typeface="Times Roman"/>
                <a:sym typeface="Times Roman"/>
              </a:defRPr>
            </a:pPr>
            <a:r>
              <a:t>Continued exploration of hybrid models and integration of diverse data sources.</a:t>
            </a:r>
          </a:p>
          <a:p>
            <a:pPr marL="457200" indent="-317500" defTabSz="457200">
              <a:buSzPct val="100000"/>
              <a:buFont typeface="Times Roman"/>
              <a:buChar char="•"/>
              <a:defRPr sz="1500">
                <a:latin typeface="Times Roman"/>
                <a:ea typeface="Times Roman"/>
                <a:cs typeface="Times Roman"/>
                <a:sym typeface="Times Roman"/>
              </a:defRPr>
            </a:pPr>
            <a:r>
              <a:t>Potential for real-time forecasting to enhance grid management strategies.</a:t>
            </a:r>
          </a:p>
          <a:p>
            <a:pPr defTabSz="457200">
              <a:defRPr sz="1500">
                <a:latin typeface="Times Roman"/>
                <a:ea typeface="Times Roman"/>
                <a:cs typeface="Times Roman"/>
                <a:sym typeface="Times Roman"/>
              </a:defRPr>
            </a:pPr>
          </a:p>
          <a:p>
            <a:pPr defTabSz="457200">
              <a:spcBef>
                <a:spcPts val="1200"/>
              </a:spcBef>
              <a:defRPr b="1" sz="1500">
                <a:latin typeface="Times Roman"/>
                <a:ea typeface="Times Roman"/>
                <a:cs typeface="Times Roman"/>
                <a:sym typeface="Times Roman"/>
              </a:defRPr>
            </a:pPr>
            <a:r>
              <a:t>Overall Contribution</a:t>
            </a:r>
            <a:endParaRPr b="0"/>
          </a:p>
          <a:p>
            <a:pPr marL="457200" indent="-317500" defTabSz="457200">
              <a:buSzPct val="100000"/>
              <a:buFont typeface="Times Roman"/>
              <a:buChar char="•"/>
              <a:defRPr sz="1500">
                <a:latin typeface="Times Roman"/>
                <a:ea typeface="Times Roman"/>
                <a:cs typeface="Times Roman"/>
                <a:sym typeface="Times Roman"/>
              </a:defRPr>
            </a:pPr>
            <a:r>
              <a:t>Provides a foundation for further advancements in predictive modeling in power systems.</a:t>
            </a:r>
          </a:p>
          <a:p>
            <a:pPr marL="457200" indent="-317500" defTabSz="457200">
              <a:buSzPct val="100000"/>
              <a:buFont typeface="Times Roman"/>
              <a:buChar char="•"/>
              <a:defRPr sz="1500">
                <a:latin typeface="Times Roman"/>
                <a:ea typeface="Times Roman"/>
                <a:cs typeface="Times Roman"/>
                <a:sym typeface="Times Roman"/>
              </a:defRPr>
            </a:pPr>
            <a:r>
              <a:t>Encourages sustainable practices through improved energy management.</a:t>
            </a:r>
          </a:p>
        </p:txBody>
      </p:sp>
      <p:sp>
        <p:nvSpPr>
          <p:cNvPr id="210" name="Footer Placeholder 13"/>
          <p:cNvSpPr txBox="1"/>
          <p:nvPr/>
        </p:nvSpPr>
        <p:spPr>
          <a:xfrm>
            <a:off x="4084320" y="6564105"/>
            <a:ext cx="40233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211" name="Date Placeholder 1"/>
          <p:cNvSpPr txBox="1"/>
          <p:nvPr/>
        </p:nvSpPr>
        <p:spPr>
          <a:xfrm>
            <a:off x="924650" y="6564105"/>
            <a:ext cx="2651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Title 4"/>
          <p:cNvSpPr txBox="1"/>
          <p:nvPr>
            <p:ph type="title"/>
          </p:nvPr>
        </p:nvSpPr>
        <p:spPr>
          <a:xfrm>
            <a:off x="1107516" y="86840"/>
            <a:ext cx="8934451" cy="862956"/>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7. FUTURE SCOPE</a:t>
            </a:r>
          </a:p>
        </p:txBody>
      </p:sp>
      <p:sp>
        <p:nvSpPr>
          <p:cNvPr id="214" name="Slide Number Placeholder 14"/>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15"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216" name="TextBox 5"/>
          <p:cNvSpPr txBox="1"/>
          <p:nvPr/>
        </p:nvSpPr>
        <p:spPr>
          <a:xfrm>
            <a:off x="716919" y="778282"/>
            <a:ext cx="10758162" cy="567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600">
                <a:latin typeface="Times Roman"/>
                <a:ea typeface="Times Roman"/>
                <a:cs typeface="Times Roman"/>
                <a:sym typeface="Times Roman"/>
              </a:defRPr>
            </a:pPr>
            <a:r>
              <a:t>Advanced Model Development</a:t>
            </a:r>
            <a:endParaRPr b="0"/>
          </a:p>
          <a:p>
            <a:pPr marL="457200" indent="-317500" defTabSz="457200">
              <a:buSzPct val="100000"/>
              <a:buFont typeface="Times Roman"/>
              <a:buChar char="•"/>
              <a:defRPr sz="1600">
                <a:latin typeface="Times Roman"/>
                <a:ea typeface="Times Roman"/>
                <a:cs typeface="Times Roman"/>
                <a:sym typeface="Times Roman"/>
              </a:defRPr>
            </a:pPr>
            <a:r>
              <a:t>Explore hybrid architectures (e.g., CNN-LSTM, Transformers) for enhanced accuracy in forecasting.</a:t>
            </a:r>
          </a:p>
          <a:p>
            <a:pPr marL="457200" indent="-317500" defTabSz="457200">
              <a:buSzPct val="100000"/>
              <a:buFont typeface="Times Roman"/>
              <a:buChar char="•"/>
              <a:defRPr sz="1600">
                <a:latin typeface="Times Roman"/>
                <a:ea typeface="Times Roman"/>
                <a:cs typeface="Times Roman"/>
                <a:sym typeface="Times Roman"/>
              </a:defRPr>
            </a:pPr>
            <a:r>
              <a:t>Implement attention mechanisms to focus on significant features in the data.</a:t>
            </a:r>
          </a:p>
          <a:p>
            <a:pPr defTabSz="457200">
              <a:defRPr sz="1600">
                <a:latin typeface="Times Roman"/>
                <a:ea typeface="Times Roman"/>
                <a:cs typeface="Times Roman"/>
                <a:sym typeface="Times Roman"/>
              </a:defRPr>
            </a:pPr>
          </a:p>
          <a:p>
            <a:pPr defTabSz="457200">
              <a:spcBef>
                <a:spcPts val="1200"/>
              </a:spcBef>
              <a:defRPr b="1" sz="1600">
                <a:latin typeface="Times Roman"/>
                <a:ea typeface="Times Roman"/>
                <a:cs typeface="Times Roman"/>
                <a:sym typeface="Times Roman"/>
              </a:defRPr>
            </a:pPr>
            <a:r>
              <a:t>Incorporation of External Variables</a:t>
            </a:r>
            <a:endParaRPr b="0"/>
          </a:p>
          <a:p>
            <a:pPr marL="457200" indent="-317500" defTabSz="457200">
              <a:buSzPct val="100000"/>
              <a:buFont typeface="Times Roman"/>
              <a:buChar char="•"/>
              <a:defRPr sz="1600">
                <a:latin typeface="Times Roman"/>
                <a:ea typeface="Times Roman"/>
                <a:cs typeface="Times Roman"/>
                <a:sym typeface="Times Roman"/>
              </a:defRPr>
            </a:pPr>
            <a:r>
              <a:t>Integrate weather patterns, economic indicators, and market trends into forecasting models.</a:t>
            </a:r>
          </a:p>
          <a:p>
            <a:pPr marL="457200" indent="-317500" defTabSz="457200">
              <a:buSzPct val="100000"/>
              <a:buFont typeface="Times Roman"/>
              <a:buChar char="•"/>
              <a:defRPr sz="1600">
                <a:latin typeface="Times Roman"/>
                <a:ea typeface="Times Roman"/>
                <a:cs typeface="Times Roman"/>
                <a:sym typeface="Times Roman"/>
              </a:defRPr>
            </a:pPr>
            <a:r>
              <a:t>Utilize multi-variate time series analysis to capture complex interdependencies.</a:t>
            </a:r>
          </a:p>
          <a:p>
            <a:pPr defTabSz="457200">
              <a:defRPr sz="1600">
                <a:latin typeface="Times Roman"/>
                <a:ea typeface="Times Roman"/>
                <a:cs typeface="Times Roman"/>
                <a:sym typeface="Times Roman"/>
              </a:defRPr>
            </a:pPr>
          </a:p>
          <a:p>
            <a:pPr defTabSz="457200">
              <a:spcBef>
                <a:spcPts val="1200"/>
              </a:spcBef>
              <a:defRPr b="1" sz="1600">
                <a:latin typeface="Times Roman"/>
                <a:ea typeface="Times Roman"/>
                <a:cs typeface="Times Roman"/>
                <a:sym typeface="Times Roman"/>
              </a:defRPr>
            </a:pPr>
            <a:r>
              <a:t>Real-Time Forecasting</a:t>
            </a:r>
            <a:endParaRPr b="0"/>
          </a:p>
          <a:p>
            <a:pPr marL="457200" indent="-317500" defTabSz="457200">
              <a:buSzPct val="100000"/>
              <a:buFont typeface="Times Roman"/>
              <a:buChar char="•"/>
              <a:defRPr sz="1600">
                <a:latin typeface="Times Roman"/>
                <a:ea typeface="Times Roman"/>
                <a:cs typeface="Times Roman"/>
                <a:sym typeface="Times Roman"/>
              </a:defRPr>
            </a:pPr>
            <a:r>
              <a:t>Develop frameworks for dynamic, real-time predictions to improve grid stability.</a:t>
            </a:r>
          </a:p>
          <a:p>
            <a:pPr marL="457200" indent="-317500" defTabSz="457200">
              <a:buSzPct val="100000"/>
              <a:buFont typeface="Times Roman"/>
              <a:buChar char="•"/>
              <a:defRPr sz="1600">
                <a:latin typeface="Times Roman"/>
                <a:ea typeface="Times Roman"/>
                <a:cs typeface="Times Roman"/>
                <a:sym typeface="Times Roman"/>
              </a:defRPr>
            </a:pPr>
            <a:r>
              <a:t>Leverage IoT technologies for continuous data collection and processing.</a:t>
            </a:r>
          </a:p>
          <a:p>
            <a:pPr defTabSz="457200">
              <a:defRPr sz="1600">
                <a:latin typeface="Times Roman"/>
                <a:ea typeface="Times Roman"/>
                <a:cs typeface="Times Roman"/>
                <a:sym typeface="Times Roman"/>
              </a:defRPr>
            </a:pPr>
          </a:p>
          <a:p>
            <a:pPr defTabSz="457200">
              <a:spcBef>
                <a:spcPts val="1200"/>
              </a:spcBef>
              <a:defRPr b="1" sz="1600">
                <a:latin typeface="Times Roman"/>
                <a:ea typeface="Times Roman"/>
                <a:cs typeface="Times Roman"/>
                <a:sym typeface="Times Roman"/>
              </a:defRPr>
            </a:pPr>
            <a:r>
              <a:t>Enhanced Model Interpretability</a:t>
            </a:r>
            <a:endParaRPr b="0"/>
          </a:p>
          <a:p>
            <a:pPr marL="457200" indent="-317500" defTabSz="457200">
              <a:buSzPct val="100000"/>
              <a:buFont typeface="Times Roman"/>
              <a:buChar char="•"/>
              <a:defRPr sz="1600">
                <a:latin typeface="Times Roman"/>
                <a:ea typeface="Times Roman"/>
                <a:cs typeface="Times Roman"/>
                <a:sym typeface="Times Roman"/>
              </a:defRPr>
            </a:pPr>
            <a:r>
              <a:t>Apply techniques like SHAP and LIME to improve the transparency of model predictions.</a:t>
            </a:r>
          </a:p>
          <a:p>
            <a:pPr marL="457200" indent="-317500" defTabSz="457200">
              <a:buSzPct val="100000"/>
              <a:buFont typeface="Times Roman"/>
              <a:buChar char="•"/>
              <a:defRPr sz="1600">
                <a:latin typeface="Times Roman"/>
                <a:ea typeface="Times Roman"/>
                <a:cs typeface="Times Roman"/>
                <a:sym typeface="Times Roman"/>
              </a:defRPr>
            </a:pPr>
            <a:r>
              <a:t>Foster trust in AI-driven forecasts among stakeholders.</a:t>
            </a:r>
          </a:p>
          <a:p>
            <a:pPr defTabSz="457200">
              <a:defRPr sz="1600">
                <a:latin typeface="Times Roman"/>
                <a:ea typeface="Times Roman"/>
                <a:cs typeface="Times Roman"/>
                <a:sym typeface="Times Roman"/>
              </a:defRPr>
            </a:pPr>
          </a:p>
          <a:p>
            <a:pPr defTabSz="457200">
              <a:spcBef>
                <a:spcPts val="1200"/>
              </a:spcBef>
              <a:defRPr b="1" sz="1600">
                <a:latin typeface="Times Roman"/>
                <a:ea typeface="Times Roman"/>
                <a:cs typeface="Times Roman"/>
                <a:sym typeface="Times Roman"/>
              </a:defRPr>
            </a:pPr>
            <a:r>
              <a:t>Collaboration with Industry</a:t>
            </a:r>
            <a:endParaRPr b="0"/>
          </a:p>
          <a:p>
            <a:pPr marL="457200" indent="-317500" defTabSz="457200">
              <a:buSzPct val="100000"/>
              <a:buFont typeface="Times Roman"/>
              <a:buChar char="•"/>
              <a:defRPr sz="1600">
                <a:latin typeface="Times Roman"/>
                <a:ea typeface="Times Roman"/>
                <a:cs typeface="Times Roman"/>
                <a:sym typeface="Times Roman"/>
              </a:defRPr>
            </a:pPr>
            <a:r>
              <a:t>Partner with energy providers for model validation and refinement in real-world scenarios.</a:t>
            </a:r>
          </a:p>
          <a:p>
            <a:pPr marL="457200" indent="-317500" defTabSz="457200">
              <a:buSzPct val="100000"/>
              <a:buFont typeface="Times Roman"/>
              <a:buChar char="•"/>
              <a:defRPr sz="1600">
                <a:latin typeface="Times Roman"/>
                <a:ea typeface="Times Roman"/>
                <a:cs typeface="Times Roman"/>
                <a:sym typeface="Times Roman"/>
              </a:defRPr>
            </a:pPr>
            <a:r>
              <a:t>Engage in joint research initiatives to advance energy forecasting methodologies.</a:t>
            </a:r>
          </a:p>
        </p:txBody>
      </p:sp>
      <p:sp>
        <p:nvSpPr>
          <p:cNvPr id="217" name="Footer Placeholder 13"/>
          <p:cNvSpPr txBox="1"/>
          <p:nvPr/>
        </p:nvSpPr>
        <p:spPr>
          <a:xfrm>
            <a:off x="3943213" y="6536951"/>
            <a:ext cx="40233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218" name="Date Placeholder 1"/>
          <p:cNvSpPr txBox="1"/>
          <p:nvPr/>
        </p:nvSpPr>
        <p:spPr>
          <a:xfrm>
            <a:off x="911073" y="6536951"/>
            <a:ext cx="2651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Title 4"/>
          <p:cNvSpPr txBox="1"/>
          <p:nvPr>
            <p:ph type="title"/>
          </p:nvPr>
        </p:nvSpPr>
        <p:spPr>
          <a:xfrm>
            <a:off x="1657350" y="356245"/>
            <a:ext cx="8934450" cy="862955"/>
          </a:xfrm>
          <a:prstGeom prst="rect">
            <a:avLst/>
          </a:prstGeom>
        </p:spPr>
        <p:txBody>
          <a:bodyPr/>
          <a:lstStyle>
            <a:lvl1pPr algn="ctr">
              <a:defRPr b="1" sz="3200">
                <a:solidFill>
                  <a:srgbClr val="9933FF"/>
                </a:solidFill>
                <a:latin typeface="Trebuchet MS"/>
                <a:ea typeface="Trebuchet MS"/>
                <a:cs typeface="Trebuchet MS"/>
                <a:sym typeface="Trebuchet MS"/>
              </a:defRPr>
            </a:lvl1pPr>
          </a:lstStyle>
          <a:p>
            <a:pPr/>
            <a:r>
              <a:t>8. REFERENCES</a:t>
            </a:r>
          </a:p>
        </p:txBody>
      </p:sp>
      <p:sp>
        <p:nvSpPr>
          <p:cNvPr id="221" name="Slide Number Placeholder 14"/>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22" name="Picture 1" descr="Picture 1"/>
          <p:cNvPicPr>
            <a:picLocks noChangeAspect="1"/>
          </p:cNvPicPr>
          <p:nvPr/>
        </p:nvPicPr>
        <p:blipFill>
          <a:blip r:embed="rId2">
            <a:extLst/>
          </a:blip>
          <a:stretch>
            <a:fillRect/>
          </a:stretch>
        </p:blipFill>
        <p:spPr>
          <a:xfrm>
            <a:off x="0" y="0"/>
            <a:ext cx="613393" cy="654088"/>
          </a:xfrm>
          <a:prstGeom prst="rect">
            <a:avLst/>
          </a:prstGeom>
          <a:ln w="12700">
            <a:miter lim="400000"/>
          </a:ln>
        </p:spPr>
      </p:pic>
      <p:sp>
        <p:nvSpPr>
          <p:cNvPr id="223" name="TextBox 3"/>
          <p:cNvSpPr txBox="1"/>
          <p:nvPr/>
        </p:nvSpPr>
        <p:spPr>
          <a:xfrm>
            <a:off x="756337" y="1368660"/>
            <a:ext cx="11116380" cy="44224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[1]Optimal Management of a Virtual Power Plant Consisting of Renewable Energy Resources and Electric Vehicles Using Mixed‐Integer Linear Programming and Deep Learning . Ali Ahmadian, Kumaraswamy Ponnambalam</a:t>
            </a:r>
            <a:endParaRPr sz="1200"/>
          </a:p>
          <a:p>
            <a:pPr/>
            <a:r>
              <a:t>[2]  Sadeghi, S.; Jahangir, H.; Vatandoust, B.; Golkar, M.A.; Ahmadian, A.; Elkamel, A. Optimal bidding strategy of a virtual power plant in day‐ahead energy and frequency regulation markets: A deep learning‐based approach. </a:t>
            </a:r>
            <a:r>
              <a:rPr i="1"/>
              <a:t>Int. J. Electr. Power Energy Syst. </a:t>
            </a:r>
            <a:r>
              <a:rPr b="1"/>
              <a:t>2021</a:t>
            </a:r>
            <a:r>
              <a:t>, </a:t>
            </a:r>
            <a:r>
              <a:rPr i="1"/>
              <a:t>127</a:t>
            </a:r>
            <a:r>
              <a:t>, 106646. </a:t>
            </a:r>
          </a:p>
          <a:p>
            <a:pPr/>
            <a:r>
              <a:t>[3]Ullah, Z.; Hassanin, H. Modeling, optimization, and analysis of a virtual power plant demand response mechanism for the internal electricity market considering the uncertainty of renewable energy sources. </a:t>
            </a:r>
            <a:r>
              <a:rPr i="1"/>
              <a:t>Energies </a:t>
            </a:r>
            <a:r>
              <a:rPr b="1"/>
              <a:t>2022</a:t>
            </a:r>
            <a:r>
              <a:t>, </a:t>
            </a:r>
            <a:r>
              <a:rPr i="1"/>
              <a:t>15</a:t>
            </a:r>
            <a:r>
              <a:t>, 5296.</a:t>
            </a:r>
          </a:p>
          <a:p>
            <a:pPr/>
            <a:r>
              <a:t>[4]Zamani, A.G.; Zakariazadeh, A.; Jadid, S.; Kazemi, A. Stochastic operational scheduling of distributed energy resources in a large scale virtual power plant. </a:t>
            </a:r>
            <a:r>
              <a:rPr i="1"/>
              <a:t>Int. J. Electr. Power Energy Syst. </a:t>
            </a:r>
            <a:r>
              <a:rPr b="1"/>
              <a:t>2016</a:t>
            </a:r>
            <a:r>
              <a:t>, </a:t>
            </a:r>
            <a:r>
              <a:rPr i="1"/>
              <a:t>82</a:t>
            </a:r>
            <a:r>
              <a:t>, 608–620.</a:t>
            </a:r>
          </a:p>
          <a:p>
            <a:pPr/>
            <a:r>
              <a:t>[5]Ju, L.; Li, H.; Zhao, J.; Chen, K.; Tan, Q.; Tan, Z. Multi‐objective stochastic scheduling optimization model for connecting a virtual power plant to wind‐photovoltaic‐electric vehicles considering uncertainties and demand response. </a:t>
            </a:r>
            <a:r>
              <a:rPr i="1"/>
              <a:t>Energy Convers Manag. </a:t>
            </a:r>
            <a:r>
              <a:rPr b="1"/>
              <a:t>2016</a:t>
            </a:r>
            <a:r>
              <a:t>, </a:t>
            </a:r>
            <a:r>
              <a:rPr i="1"/>
              <a:t>128</a:t>
            </a:r>
            <a:r>
              <a:t>, 160–177.</a:t>
            </a:r>
            <a:br/>
          </a:p>
          <a:p>
            <a:pPr/>
          </a:p>
        </p:txBody>
      </p:sp>
      <p:sp>
        <p:nvSpPr>
          <p:cNvPr id="224"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
        <p:nvSpPr>
          <p:cNvPr id="225"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Content Placeholder 2"/>
          <p:cNvSpPr txBox="1"/>
          <p:nvPr>
            <p:ph type="body" sz="quarter" idx="1"/>
          </p:nvPr>
        </p:nvSpPr>
        <p:spPr>
          <a:xfrm>
            <a:off x="3291439" y="2773197"/>
            <a:ext cx="5609122" cy="1092951"/>
          </a:xfrm>
          <a:prstGeom prst="rect">
            <a:avLst/>
          </a:prstGeom>
        </p:spPr>
        <p:txBody>
          <a:bodyPr/>
          <a:lstStyle>
            <a:lvl1pPr marL="0" indent="0" algn="ctr" defTabSz="868680">
              <a:spcBef>
                <a:spcPts val="900"/>
              </a:spcBef>
              <a:buSzTx/>
              <a:buNone/>
              <a:defRPr b="1" sz="6840">
                <a:solidFill>
                  <a:srgbClr val="9933FF"/>
                </a:solidFill>
                <a:latin typeface="Trebuchet MS"/>
                <a:ea typeface="Trebuchet MS"/>
                <a:cs typeface="Trebuchet MS"/>
                <a:sym typeface="Trebuchet MS"/>
              </a:defRPr>
            </a:lvl1pPr>
          </a:lstStyle>
          <a:p>
            <a:pPr/>
            <a:r>
              <a:t>THANK YOU</a:t>
            </a:r>
          </a:p>
        </p:txBody>
      </p:sp>
      <p:sp>
        <p:nvSpPr>
          <p:cNvPr id="228" name="Date Placeholder 1"/>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888888"/>
                </a:solidFill>
              </a:defRPr>
            </a:pPr>
            <a:r>
              <a:t>Tuesday, 8</a:t>
            </a:r>
            <a:r>
              <a:rPr baseline="30000"/>
              <a:t>th</a:t>
            </a:r>
            <a:r>
              <a:t> October 2024</a:t>
            </a:r>
          </a:p>
        </p:txBody>
      </p:sp>
      <p:sp>
        <p:nvSpPr>
          <p:cNvPr id="229" name="Slide Number Placeholder 4"/>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0" name="Footer Placeholder 13"/>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88888"/>
                </a:solidFill>
              </a:defRPr>
            </a:lvl1pPr>
          </a:lstStyle>
          <a:p>
            <a:pPr/>
            <a:r>
              <a:t>IV-B.Tech.-EEE-Internship/Magam Vasista Sai-21EEB0A38</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